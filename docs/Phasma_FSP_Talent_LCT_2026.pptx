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fc7fa568804c2e" /><Relationship Type="http://schemas.openxmlformats.org/officeDocument/2006/relationships/extended-properties" Target="/docProps/app.xml" Id="Rc4cd3bee53fc412e" /><Relationship Type="http://schemas.openxmlformats.org/officeDocument/2006/relationships/officeDocument" Target="/ppt/presentation.xml" Id="R26950f20f24340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498ec2f28447de"/>
  </p:sldMasterIdLst>
  <p:notesMasterIdLst>
    <p:notesMasterId xmlns:r="http://schemas.openxmlformats.org/officeDocument/2006/relationships" r:id="Rdc8049fe03b44123"/>
  </p:notesMasterIdLst>
  <p:sldIdLst>
    <p:sldId xmlns:r="http://schemas.openxmlformats.org/officeDocument/2006/relationships" id="256" r:id="Rfe3eccad490f41be"/>
    <p:sldId xmlns:r="http://schemas.openxmlformats.org/officeDocument/2006/relationships" id="257" r:id="R0f146533f8824921"/>
    <p:sldId xmlns:r="http://schemas.openxmlformats.org/officeDocument/2006/relationships" id="258" r:id="Ra00faf0e688344f3"/>
    <p:sldId xmlns:r="http://schemas.openxmlformats.org/officeDocument/2006/relationships" id="259" r:id="R52ce22ac48894cac"/>
    <p:sldId xmlns:r="http://schemas.openxmlformats.org/officeDocument/2006/relationships" id="260" r:id="R3f15d1b39c214738"/>
    <p:sldId xmlns:r="http://schemas.openxmlformats.org/officeDocument/2006/relationships" id="261" r:id="Rda62b4bd5b5a4261"/>
    <p:sldId xmlns:r="http://schemas.openxmlformats.org/officeDocument/2006/relationships" id="262" r:id="Rbe87923d36e04b92"/>
    <p:sldId xmlns:r="http://schemas.openxmlformats.org/officeDocument/2006/relationships" id="263" r:id="R7593f220c3bf4408"/>
    <p:sldId xmlns:r="http://schemas.openxmlformats.org/officeDocument/2006/relationships" id="264" r:id="R1845a6f40b944fcb"/>
    <p:sldId xmlns:r="http://schemas.openxmlformats.org/officeDocument/2006/relationships" id="265" r:id="R9d088139efe14b78"/>
    <p:sldId xmlns:r="http://schemas.openxmlformats.org/officeDocument/2006/relationships" id="266" r:id="Rfce95294ec964008"/>
    <p:sldId xmlns:r="http://schemas.openxmlformats.org/officeDocument/2006/relationships" id="267" r:id="Rf4cbb7c7d773485c"/>
    <p:sldId xmlns:r="http://schemas.openxmlformats.org/officeDocument/2006/relationships" id="268" r:id="R0ccef5bd207e4628"/>
    <p:sldId xmlns:r="http://schemas.openxmlformats.org/officeDocument/2006/relationships" id="269" r:id="Ra185599e14614e26"/>
    <p:sldId xmlns:r="http://schemas.openxmlformats.org/officeDocument/2006/relationships" id="270" r:id="R9156e8dee5c54768"/>
    <p:sldId xmlns:r="http://schemas.openxmlformats.org/officeDocument/2006/relationships" id="271" r:id="R4b6129d0669b4eb5"/>
    <p:sldId xmlns:r="http://schemas.openxmlformats.org/officeDocument/2006/relationships" id="272" r:id="R0b5d90ec2d0c401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110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220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329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439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5549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2658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199765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6877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4815d5495d40c3" /><Relationship Type="http://schemas.openxmlformats.org/officeDocument/2006/relationships/slideMaster" Target="/ppt/slideMasters/slideMaster1.xml" Id="R26498ec2f28447de" /><Relationship Type="http://schemas.openxmlformats.org/officeDocument/2006/relationships/notesMaster" Target="/ppt/notesMasters/notesMaster1.xml" Id="Rdc8049fe03b44123" /><Relationship Type="http://schemas.openxmlformats.org/officeDocument/2006/relationships/presProps" Target="/ppt/presProps.xml" Id="R07d4e101b1634aeb" /><Relationship Type="http://schemas.openxmlformats.org/officeDocument/2006/relationships/viewProps" Target="/ppt/viewProps.xml" Id="Re92bf3275fd14c5e" /><Relationship Type="http://schemas.openxmlformats.org/officeDocument/2006/relationships/tableStyles" Target="/ppt/tableStyles.xml" Id="Ree932d7df4074722" /><Relationship Type="http://schemas.openxmlformats.org/officeDocument/2006/relationships/slide" Target="/ppt/slides/slide1.xml" Id="Rfe3eccad490f41be" /><Relationship Type="http://schemas.openxmlformats.org/officeDocument/2006/relationships/slide" Target="/ppt/slides/slide2.xml" Id="R0f146533f8824921" /><Relationship Type="http://schemas.openxmlformats.org/officeDocument/2006/relationships/slide" Target="/ppt/slides/slide3.xml" Id="Ra00faf0e688344f3" /><Relationship Type="http://schemas.openxmlformats.org/officeDocument/2006/relationships/slide" Target="/ppt/slides/slide4.xml" Id="R52ce22ac48894cac" /><Relationship Type="http://schemas.openxmlformats.org/officeDocument/2006/relationships/slide" Target="/ppt/slides/slide5.xml" Id="R3f15d1b39c214738" /><Relationship Type="http://schemas.openxmlformats.org/officeDocument/2006/relationships/slide" Target="/ppt/slides/slide6.xml" Id="Rda62b4bd5b5a4261" /><Relationship Type="http://schemas.openxmlformats.org/officeDocument/2006/relationships/slide" Target="/ppt/slides/slide7.xml" Id="Rbe87923d36e04b92" /><Relationship Type="http://schemas.openxmlformats.org/officeDocument/2006/relationships/slide" Target="/ppt/slides/slide8.xml" Id="R7593f220c3bf4408" /><Relationship Type="http://schemas.openxmlformats.org/officeDocument/2006/relationships/slide" Target="/ppt/slides/slide9.xml" Id="R1845a6f40b944fcb" /><Relationship Type="http://schemas.openxmlformats.org/officeDocument/2006/relationships/slide" Target="/ppt/slides/slide10.xml" Id="R9d088139efe14b78" /><Relationship Type="http://schemas.openxmlformats.org/officeDocument/2006/relationships/slide" Target="/ppt/slides/slide11.xml" Id="Rfce95294ec964008" /><Relationship Type="http://schemas.openxmlformats.org/officeDocument/2006/relationships/slide" Target="/ppt/slides/slide12.xml" Id="Rf4cbb7c7d773485c" /><Relationship Type="http://schemas.openxmlformats.org/officeDocument/2006/relationships/slide" Target="/ppt/slides/slide13.xml" Id="R0ccef5bd207e4628" /><Relationship Type="http://schemas.openxmlformats.org/officeDocument/2006/relationships/slide" Target="/ppt/slides/slide14.xml" Id="Ra185599e14614e26" /><Relationship Type="http://schemas.openxmlformats.org/officeDocument/2006/relationships/slide" Target="/ppt/slides/slide15.xml" Id="R9156e8dee5c54768" /><Relationship Type="http://schemas.openxmlformats.org/officeDocument/2006/relationships/slide" Target="/ppt/slides/slide16.xml" Id="R4b6129d0669b4eb5" /><Relationship Type="http://schemas.openxmlformats.org/officeDocument/2006/relationships/slide" Target="/ppt/slides/slide17.xml" Id="R0b5d90ec2d0c40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ddd29cd3a746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Пользовательские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30916e12af4b22" /><Relationship Type="http://schemas.openxmlformats.org/officeDocument/2006/relationships/notesMaster" Target="/ppt/notesMasters/notesMaster1.xml" Id="R9ec5176237e244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ba863479524860" /><Relationship Type="http://schemas.openxmlformats.org/officeDocument/2006/relationships/notesMaster" Target="/ppt/notesMasters/notesMaster1.xml" Id="R99378e9577344a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65b67a6344476c" /><Relationship Type="http://schemas.openxmlformats.org/officeDocument/2006/relationships/notesMaster" Target="/ppt/notesMasters/notesMaster1.xml" Id="Rf8776732066e44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22eca0293c4cde" /><Relationship Type="http://schemas.openxmlformats.org/officeDocument/2006/relationships/notesMaster" Target="/ppt/notesMasters/notesMaster1.xml" Id="Rda366bb0152441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ea6b9f749641e3" /><Relationship Type="http://schemas.openxmlformats.org/officeDocument/2006/relationships/notesMaster" Target="/ppt/notesMasters/notesMaster1.xml" Id="R60faa380996746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8ad67084ef4167" /><Relationship Type="http://schemas.openxmlformats.org/officeDocument/2006/relationships/notesMaster" Target="/ppt/notesMasters/notesMaster1.xml" Id="R2291d65932084a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a14f3531844373" /><Relationship Type="http://schemas.openxmlformats.org/officeDocument/2006/relationships/notesMaster" Target="/ppt/notesMasters/notesMaster1.xml" Id="R93da944a49934f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c8d1aee8fc486b" /><Relationship Type="http://schemas.openxmlformats.org/officeDocument/2006/relationships/notesMaster" Target="/ppt/notesMasters/notesMaster1.xml" Id="Rb616ad8549ae46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d739a05e754c53" /><Relationship Type="http://schemas.openxmlformats.org/officeDocument/2006/relationships/notesMaster" Target="/ppt/notesMasters/notesMaster1.xml" Id="R32cb3163f6bb4f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26c466267c43af" /><Relationship Type="http://schemas.openxmlformats.org/officeDocument/2006/relationships/notesMaster" Target="/ppt/notesMasters/notesMaster1.xml" Id="R42271c5c1a8e46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e17142a93547e1" /><Relationship Type="http://schemas.openxmlformats.org/officeDocument/2006/relationships/notesMaster" Target="/ppt/notesMasters/notesMaster1.xml" Id="R58e7b1dd53a74d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2dd8eab6f74c75" /><Relationship Type="http://schemas.openxmlformats.org/officeDocument/2006/relationships/notesMaster" Target="/ppt/notesMasters/notesMaster1.xml" Id="R9eaaf3a9e4cd4d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76267fe3b84a73" /><Relationship Type="http://schemas.openxmlformats.org/officeDocument/2006/relationships/notesMaster" Target="/ppt/notesMasters/notesMaster1.xml" Id="Radd17f9f4c2648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7de6767fdc4132" /><Relationship Type="http://schemas.openxmlformats.org/officeDocument/2006/relationships/notesMaster" Target="/ppt/notesMasters/notesMaster1.xml" Id="Rdacc1bdd55c147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0e010727bd44c90" /><Relationship Type="http://schemas.openxmlformats.org/officeDocument/2006/relationships/notesMaster" Target="/ppt/notesMasters/notesMaster1.xml" Id="R26fc8b8672f046d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3708f3f39c4b97" /><Relationship Type="http://schemas.openxmlformats.org/officeDocument/2006/relationships/notesMaster" Target="/ppt/notesMasters/notesMaster1.xml" Id="R0be0367d149d42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41b7eff17e4cf4" /><Relationship Type="http://schemas.openxmlformats.org/officeDocument/2006/relationships/notesMaster" Target="/ppt/notesMasters/notesMaster1.xml" Id="R51cf60a931124e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Работающий MVP прямого обратного найма ИТ-специалистов.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Источники: https://github.com/vanlavir/Talent-thsp/blob/main/README.md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Специализации: Backend, Frontend, Data Science. Демонстрационные достижения ФСП представлены на тестовых данных в соответствии с условиями хакатона.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Источники: https://github.com/vanlavir/Talent-thsp/blob/main/README.md</a:t>
            </a:r>
            <a:endParaRPr/>
          </a:p>
          <a:p xmlns:a="http://schemas.openxmlformats.org/drawingml/2006/main">
            <a:pPr>
              <a:buNone/>
            </a:pPr>
            <a:r>
              <a:t>https://github.com/vanlavir/Talent-thsp/blob/main/docs/technical-documentation.md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Состав команды, роли и публичные контакты предоставлены участниками.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Источники: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Разделили работу над продуктом, серверной частью, интерфейсом и дизайном. Проверили сценарий в двух кабинетах.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Источники: https://github.com/vanlavir/Talent-thsp/blob/main/docs/acceptance.md</a:t>
            </a:r>
            <a:endParaRPr/>
          </a:p>
          <a:p xmlns:a="http://schemas.openxmlformats.org/drawingml/2006/main">
            <a:pPr>
              <a:buNone/>
            </a:pPr>
            <a:r>
              <a:t>https://github.com/vanlavir/Talent-thsp/blob/main/docs/defense-readiness.md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Работодатель выбирает специалиста по категории и профилю. Кандидат показывает проекты и результаты проверки.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Источники: https://github.com/vanlavir/Talent-thsp/blob/main/README.md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Проблема поиска ИТ-специалистов описана в техническом задании хакатона.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Источники: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Профиль, проверка знаний, подбор, приглашение и ответ кандидата образуют единый сценарий.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Источники: https://github.com/vanlavir/Talent-thsp/blob/main/docs/technical-documentation.md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Реальный экран работающей локальной версии с демонстрационным аккаунтом.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Источники: https://github.com/vanlavir/Talent-thsp/blob/main/docs/browser-validation-results.json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Реальный экран работающей локальной версии с демонстрационным аккаунтом.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Источники: https://github.com/vanlavir/Talent-thsp/blob/main/docs/browser-validation-results.json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Методика MVP: 10 ситуационных и 5 прикладных заданий. Пороги Junior, Middle, Senior: 70, 80, 87 баллов и минимум 3 прикладных ответа. Практическое задание работодателя имеет отдельную оценку.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Источники: https://github.com/vanlavir/Talent-thsp/blob/main/lib/assessment.ts</a:t>
            </a:r>
            <a:endParaRPr/>
          </a:p>
          <a:p xmlns:a="http://schemas.openxmlformats.org/drawingml/2006/main">
            <a:pPr>
              <a:buNone/>
            </a:pPr>
            <a:r>
              <a:t>https://github.com/vanlavir/Talent-thsp/blob/main/lib/assignments.ts</a:t>
            </a:r>
            <a:endParaRPr/>
          </a:p>
          <a:p xmlns:a="http://schemas.openxmlformats.org/drawingml/2006/main">
            <a:pPr>
              <a:buNone/>
            </a:pPr>
            <a:r>
              <a:t>https://github.com/vanlavir/Talent-thsp/blob/main/app/task-solution.tsx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Индекс соответствия учитывает роль, грейд, заявленный стек, тест, достижения и формат работы. Веса показаны на диаграмме.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Источники: https://github.com/vanlavir/Talent-thsp/blob/main/lib/domain.ts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Интерфейс React и TypeScript. Сервер Vinext и Cloudflare Worker. Данные D1 на основе SQLite. Письма Mail.ru SMTP.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Источники: https://github.com/vanlavir/Talent-thsp/blob/main/docs/technical-documentation.md</a:t>
            </a:r>
            <a:endParaRPr/>
          </a:p>
          <a:p xmlns:a="http://schemas.openxmlformats.org/drawingml/2006/main">
            <a:pPr>
              <a:buNone/>
            </a:pPr>
            <a:r>
              <a:t>https://github.com/vanlavir/Talent-thsp/blob/main/public/openapi.json</a:t>
            </a:r>
            <a:endParaRPr/>
          </a:p>
          <a:p xmlns:a="http://schemas.openxmlformats.org/drawingml/2006/main">
            <a:pPr>
              <a:buNone/>
            </a:pPr>
            <a:r>
              <a:t>https://github.com/vanlavir/Talent-thsp/blob/main/lib/assessment-transaction.ts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44 серверные проверки. 900 автоматически сгенерированных форм с эталонными ответами. Локальный нагрузочный прогон: 100 запросов, 1000 тестовых профилей, параллелизм 10, p95 748.5915 мс.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Источники: https://github.com/vanlavir/Talent-thsp/blob/main/docs/validation-results.json</a:t>
            </a:r>
            <a:endParaRPr/>
          </a:p>
          <a:p xmlns:a="http://schemas.openxmlformats.org/drawingml/2006/main">
            <a:pPr>
              <a:buNone/>
            </a:pPr>
            <a:r>
              <a:t>https://github.com/vanlavir/Talent-thsp/blob/main/docs/load-validation-results.json</a:t>
            </a:r>
            <a:endParaRPr/>
          </a:p>
          <a:p xmlns:a="http://schemas.openxmlformats.org/drawingml/2006/main">
            <a:pPr>
              <a:buNone/>
            </a:pPr>
            <a:r>
              <a:t>https://github.com/vanlavir/Talent-thsp/blob/main/docs/browser-validation-results.json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Сравнение на синтетическом стенде: 1000 профилей на основе стартовых шаблонов, 12 запросов, авторская разметка категории и совпадения стека. Результаты относятся к этому стенду. Средние метрики индекса: 1, 1, 1. Поиска только по стеку: 0.916667, 0.95, 0.946671.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Источники: https://github.com/vanlavir/Talent-thsp/blob/main/docs/ranking-benchmark.json</a:t>
            </a:r>
            <a:endParaRPr/>
          </a:p>
          <a:p xmlns:a="http://schemas.openxmlformats.org/drawingml/2006/main">
            <a:pPr>
              <a:buNone/>
            </a:pPr>
            <a:r>
              <a:t>https://github.com/vanlavir/Talent-thsp/blob/main/scripts/validate-priority.cjs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Кандидат управляет видимостью сведений. Контакт открывается после принятия предложения. Сервер проверяет роль и владельца записи.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Источники: https://github.com/vanlavir/Talent-thsp/blob/main/lib/public-profile.ts</a:t>
            </a:r>
            <a:endParaRPr/>
          </a:p>
          <a:p xmlns:a="http://schemas.openxmlformats.org/drawingml/2006/main">
            <a:pPr>
              <a:buNone/>
            </a:pPr>
            <a:r>
              <a:t>https://github.com/vanlavir/Talent-thsp/blob/main/docs/technical-documentation.md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План развития: пилот, экспертная калибровка, восстановление доступа, SQL-предфильтрация, интеграции ФСП и ATS. Платный доступ работодателей является планом монетизации.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Источники: https://github.com/vanlavir/Talent-thsp/blob/main/docs/pilot-guide.md</a:t>
            </a:r>
            <a:endParaRPr/>
          </a:p>
          <a:p xmlns:a="http://schemas.openxmlformats.org/drawingml/2006/main">
            <a:pPr>
              <a:buNone/>
            </a:pPr>
            <a:r>
              <a:t>https://github.com/vanlavir/Talent-thsp/blob/main/docs/defense-readiness.md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Для доступа к демонстрационной версии сайта требуется VPN. Исходный код, OpenAPI и инструкция запуска доступны в репозитории.</a:t>
            </a:r>
            <a:endParaRPr/>
          </a:p>
          <a:p xmlns:a="http://schemas.openxmlformats.org/drawingml/2006/main">
            <a:pPr>
              <a:buNone/>
            </a:pPr>
            <a:r>
              <a:t/>
            </a:r>
            <a:endParaRPr/>
          </a:p>
          <a:p xmlns:a="http://schemas.openxmlformats.org/drawingml/2006/main">
            <a:pPr>
              <a:buNone/>
            </a:pPr>
            <a:r>
              <a:t>Источники: https://github.com/vanlavir/Talent-thsp/blob/main/docs/submission.md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5a2bd9e1024044" /><Relationship Type="http://schemas.openxmlformats.org/officeDocument/2006/relationships/image" Target="/ppt/media/image2.png" Id="Ra0b92db3cfe34f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3b58171a484b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a4625236134f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5a21a94a0419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b323d0d69449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cce4355a374f5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8599d36fc4c0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486ce2d6f24c8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619331aa614e0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7b19739524ba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28a007c1f246e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38b543b024fa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414d6f1d543a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6ef77740f46c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eb0414cf114db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b859af45a440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4aea4b6ae54b2f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ee8237dcff41e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2f6a75d3474da4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6a2e1975a74240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e2010d59b4c7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36196b34b14682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f9355ac7be400c" /></Relationships>
</file>

<file path=ppt/slideLayouts/slideLayout1.xml><?xml version="1.0" encoding="utf-8"?>
<p:sldLayout xmlns:p="http://schemas.openxmlformats.org/presentationml/2006/main" showMasterSp="1" showMasterPhAnim="0" matchingName="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a0b92db3cfe34fde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3744205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4095D82A-7558-40E9-8419-D040567ED51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Иконка задачи</a:t>
            </a:r>
            <a:endParaRPr/>
          </a:p>
        </p:txBody>
      </p:sp>
      <p:sp>
        <p:nvSpPr>
          <p:cNvPr id="15123028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86A23C8-1F78-4DCC-ACA5-3290BE49D5B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НАЗВАНИЕ КОМАНДЫ</a:t>
            </a:r>
            <a:endParaRPr/>
          </a:p>
        </p:txBody>
      </p:sp>
      <p:sp>
        <p:nvSpPr>
          <p:cNvPr id="738026884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EC3FB9BD-0B17-490E-9E0E-949D94229A7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Логотип/логотипы постановщика задачи</a:t>
            </a:r>
            <a:endParaRPr/>
          </a:p>
        </p:txBody>
      </p:sp>
      <p:sp>
        <p:nvSpPr>
          <p:cNvPr id="1893844089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6BB9A13D-112C-403D-8A86-5D527E8DC61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pPr>
              <a:buNone/>
            </a:pPr>
            <a:r>
              <a:rPr sz="1600" b="0"/>
              <a:t>Номер и название задачи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1" showMasterPhAnim="0" matchingName="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2619633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39EBF1BD-28A2-40FB-9FC4-521E7C45D82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Фото команды</a:t>
            </a:r>
            <a:endParaRPr/>
          </a:p>
        </p:txBody>
      </p:sp>
      <p:sp>
        <p:nvSpPr>
          <p:cNvPr id="201734483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5F92C80-B3A8-4D35-80E1-665A84F029C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КОМАНДА «НАЗВАНИЕ»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1" showMasterPhAnim="0" matchingName="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033947" name="Дата 3">
            <a:extLst xmlns:a="http://schemas.openxmlformats.org/drawingml/2006/main">
              <a:ext uri="{FF2B5EF4-FFF2-40B4-BE49-F238E27FC236}">
                <a16:creationId xmlns:a16="http://schemas.microsoft.com/office/drawing/2014/main" id="{E8A8A94C-CC59-4FD8-8BFF-B791FE56291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67EB9651-F031-4963-AFE9-33BCC0E88757}" type="datetime1">
              <a:t>09.10.2026</a:t>
            </a:fld>
            <a:endParaRPr/>
          </a:p>
        </p:txBody>
      </p:sp>
      <p:sp>
        <p:nvSpPr>
          <p:cNvPr id="101261706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B6BC5FB9-002C-4BC7-9204-99A481ED9F8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7415733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6231504B-7162-4DD1-ADC7-C4982482554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4</a:t>
            </a:fld>
            <a:endParaRPr/>
          </a:p>
        </p:txBody>
      </p:sp>
      <p:sp>
        <p:nvSpPr>
          <p:cNvPr id="211288721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86EE9135-E0B3-4015-871B-B43462B4203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КОМАНДА «НАЗВАНИЕ»</a:t>
            </a:r>
            <a:endParaRPr/>
          </a:p>
        </p:txBody>
      </p:sp>
      <p:sp>
        <p:nvSpPr>
          <p:cNvPr id="184462535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9B56F3E-050B-4464-AC4E-1CFA993FED9D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649103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4F0556DC-0D18-49FD-9463-9ACE86A09C4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89026992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0F5767C-B85C-47D2-9C04-DFAFC7595DAA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84369012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8DC36BB-CE42-4889-867E-8E25211E279B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90837100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EAE9037-378B-4F0F-98B5-53850B55066E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1" showMasterPhAnim="0" matchingName="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5900074" name="Дата 3">
            <a:extLst xmlns:a="http://schemas.openxmlformats.org/drawingml/2006/main">
              <a:ext uri="{FF2B5EF4-FFF2-40B4-BE49-F238E27FC236}">
                <a16:creationId xmlns:a16="http://schemas.microsoft.com/office/drawing/2014/main" id="{1372CB08-1C7C-4BC4-8FA0-3E79C513EED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1021F813-DBA1-42EC-A748-A9CC16659E6B}" type="datetime1">
              <a:t>09.10.2026</a:t>
            </a:fld>
            <a:endParaRPr/>
          </a:p>
        </p:txBody>
      </p:sp>
      <p:sp>
        <p:nvSpPr>
          <p:cNvPr id="177702300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098BCF89-27F7-45CB-9AC3-596A2B46AEF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869329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DA89A5A9-3CBA-4FAF-AAA5-3BEFDCC32B3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2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1" showMasterPhAnim="0" matchingName="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9630621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F32A3826-9358-4D2B-9BB7-5C0C5E5112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887382867" name="Дата 3">
            <a:extLst xmlns:a="http://schemas.openxmlformats.org/drawingml/2006/main">
              <a:ext uri="{FF2B5EF4-FFF2-40B4-BE49-F238E27FC236}">
                <a16:creationId xmlns:a16="http://schemas.microsoft.com/office/drawing/2014/main" id="{2B39F006-7E1C-4662-AA57-E258E9A077C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7DE2642A-6018-4CC1-81AB-5FD8D2782D4F}" type="datetime1">
              <a:t>09.10.2026</a:t>
            </a:fld>
            <a:endParaRPr/>
          </a:p>
        </p:txBody>
      </p:sp>
      <p:sp>
        <p:nvSpPr>
          <p:cNvPr id="186835766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30FABB0-EAAA-4E2D-BFC2-DCB02EE79E3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8742755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B6D28F95-0A47-4EB9-B013-61BC7D67DF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5481402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7A856A9-CFD0-4471-A4C4-F79135AFFB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1" showMasterPhAnim="0" matchingName="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584475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B91BB165-F348-431D-951F-1F70D06488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110825026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D349AA61-A2A6-4D40-86CB-7D420FF2A32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2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561502466" name="Дата 3">
            <a:extLst xmlns:a="http://schemas.openxmlformats.org/drawingml/2006/main">
              <a:ext uri="{FF2B5EF4-FFF2-40B4-BE49-F238E27FC236}">
                <a16:creationId xmlns:a16="http://schemas.microsoft.com/office/drawing/2014/main" id="{3A6BD8E1-23BD-4393-8DFB-26774A1DBD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3014BBE-C503-4380-A869-5EE8294FE947}" type="datetime1">
              <a:t>09.10.2026</a:t>
            </a:fld>
            <a:endParaRPr/>
          </a:p>
        </p:txBody>
      </p:sp>
      <p:sp>
        <p:nvSpPr>
          <p:cNvPr id="63596507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0951CBC8-7249-4C6D-A587-9D5DB6FC5D4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2048935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CA918B6D-0E97-4EF2-8388-E4C38C87ED9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263720969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3452878F-C193-4898-807D-B9C39BCC48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1" showMasterPhAnim="0" matchingName="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28702962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957EF6D-50FF-4FBF-8D9A-DA992EEFD6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411428786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7F6E345E-BEDA-4041-8FDE-6BFEC047921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499273718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CA896CFF-3475-4B96-8BA2-329105ED9DC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689946487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EACBE211-668B-48C4-8ACA-6448EBD13B1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2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797993517" name="Дата 3">
            <a:extLst xmlns:a="http://schemas.openxmlformats.org/drawingml/2006/main">
              <a:ext uri="{FF2B5EF4-FFF2-40B4-BE49-F238E27FC236}">
                <a16:creationId xmlns:a16="http://schemas.microsoft.com/office/drawing/2014/main" id="{755850ED-DC02-42C5-B3AC-423ACBD5AE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0D568497-304A-497F-ADAE-97D3CF462C1C}" type="datetime1">
              <a:t>09.10.2026</a:t>
            </a:fld>
            <a:endParaRPr/>
          </a:p>
        </p:txBody>
      </p:sp>
      <p:sp>
        <p:nvSpPr>
          <p:cNvPr id="69694560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1A875CCF-3793-4063-A83A-B57175C4E8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69139625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60C3312E-C5DB-4D8C-9641-5798164597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56731668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4EA22E39-F9D3-4845-9553-2A10AFFD63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Sp="1" showMasterPhAnim="0" matchingName="" type="blank" preserve="1" userDrawn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0084689" name="Дата 3">
            <a:extLst xmlns:a="http://schemas.openxmlformats.org/drawingml/2006/main">
              <a:ext uri="{FF2B5EF4-FFF2-40B4-BE49-F238E27FC236}">
                <a16:creationId xmlns:a16="http://schemas.microsoft.com/office/drawing/2014/main" id="{F8E78D6A-744C-488B-AC82-9C8CE9042A8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92CB240C-04A3-49D4-83F9-87A9C6C414DC}" type="datetime1">
              <a:t>09.10.2026</a:t>
            </a:fld>
            <a:endParaRPr/>
          </a:p>
        </p:txBody>
      </p:sp>
      <p:sp>
        <p:nvSpPr>
          <p:cNvPr id="1091085084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0488FB4E-13EF-432D-91D9-8AFC6CCC25F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3824154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B6AF6EE4-5195-40F7-9BB6-05C1C97446C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1" showMasterPhAnim="0" matchingName="" type="objTx" preserve="1" userDrawn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9826338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573F4F8-1163-4D4C-A503-3316D40635F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257958310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8463261-5179-4F74-8D3A-FD605FA7940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50"/>
            </a:lvl1pPr>
            <a:lvl2pPr>
              <a:buNone/>
              <a:defRPr sz="1500"/>
            </a:lvl2pPr>
            <a:lvl3pPr>
              <a:buNone/>
              <a:defRPr sz="1250"/>
            </a:lvl3pPr>
            <a:lvl4pPr>
              <a:buNone/>
              <a:defRPr sz="1150"/>
            </a:lvl4pPr>
            <a:lvl5pPr>
              <a:buNone/>
              <a:defRPr sz="1150"/>
            </a:lvl5pPr>
            <a:lvl6pPr>
              <a:buNone/>
              <a:defRPr sz="1250"/>
            </a:lvl6pPr>
            <a:lvl7pPr>
              <a:buNone/>
              <a:defRPr sz="1250"/>
            </a:lvl7pPr>
            <a:lvl8pPr>
              <a:buNone/>
              <a:defRPr sz="1250"/>
            </a:lvl8pPr>
            <a:lvl9pPr>
              <a:buNone/>
              <a:defRPr sz="125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9347603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CF26535C-7C5A-46C8-BADD-D23527F7FF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645709286" name="Дата 3">
            <a:extLst xmlns:a="http://schemas.openxmlformats.org/drawingml/2006/main">
              <a:ext uri="{FF2B5EF4-FFF2-40B4-BE49-F238E27FC236}">
                <a16:creationId xmlns:a16="http://schemas.microsoft.com/office/drawing/2014/main" id="{1DF5DF2A-5796-4AE2-B8B6-4BFD8246B8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E74468B-3512-454B-AB51-7AE95604D39E}" type="datetime1">
              <a:t>09.10.2026</a:t>
            </a:fld>
            <a:endParaRPr/>
          </a:p>
        </p:txBody>
      </p:sp>
      <p:sp>
        <p:nvSpPr>
          <p:cNvPr id="169756145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033E260D-1546-4363-AE61-5A938C8D0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8380750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B6A23A4-6EC9-4813-B788-980F688DDDF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1" showMasterPhAnim="0" matchingName="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7277755" name="Дата 4">
            <a:extLst xmlns:a="http://schemas.openxmlformats.org/drawingml/2006/main">
              <a:ext uri="{FF2B5EF4-FFF2-40B4-BE49-F238E27FC236}">
                <a16:creationId xmlns:a16="http://schemas.microsoft.com/office/drawing/2014/main" id="{176C05A4-8F9B-4D80-B904-CFC3DA4309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ABAB2196-A440-4E25-B9FF-D0ADB01B1A15}" type="datetime1">
              <a:t>09.10.2026</a:t>
            </a:fld>
            <a:endParaRPr/>
          </a:p>
        </p:txBody>
      </p:sp>
      <p:sp>
        <p:nvSpPr>
          <p:cNvPr id="2054780215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2545C809-3BE4-4BC2-B09C-44FC5AA585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7858767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4306D29-A575-4BDF-8ED5-9E4495C3B883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23362177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8433963D-5680-4C03-8376-828061D855F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1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1" showMasterPhAnim="0" matchingName="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36902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DC3D3482-CFE5-4346-AFF9-57A0636DC3F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C7BAE699-64F9-49EF-B784-2DEF2B221955}" type="datetime1">
              <a:t>09.10.2026</a:t>
            </a:fld>
            <a:endParaRPr/>
          </a:p>
        </p:txBody>
      </p:sp>
      <p:sp>
        <p:nvSpPr>
          <p:cNvPr id="463878868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3EB42B06-DF78-4796-9334-F89D0737EE5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44848932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C134FAF5-E6FF-44DE-A343-CB68C727D44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871228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B5AFA3D7-8B40-4C49-B3E1-2D593C93C283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21875308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A38DC204-899B-4D39-89DF-B30AF4DB28AD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19068596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EE2BBE4-DFC0-4D0E-9F32-E9EC439BB9D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15543046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1E3F7DD9-375F-4EED-9DB2-915A2BC97D39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789677566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42EA5432-8E69-4333-836A-D370AE77161F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71294362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745590A-BB32-4878-95EF-08DB43E15BB1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930653666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786BD653-8B20-4A6C-874A-6E9C08EF7DDC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778270569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38EE765F-8085-492A-B9FD-1517829C5331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77731060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4D4677EA-8F37-44FB-B95C-9348DBEC42BC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165266384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27E0090-8642-49DD-A5A7-32C6AEDBAE96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8057566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A5032F9-0677-4CD9-AD2C-2A73B86235F9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14325942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5D7A08A1-C780-4F4F-82F6-C717B054561C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9703695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4C4BC8B-5BDE-414D-8A73-FBC8D21448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654204526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D01EFFDC-4BB6-49A0-A263-EF5D676E5E61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2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  <a:endParaRPr/>
          </a:p>
        </p:txBody>
      </p:sp>
      <p:sp>
        <p:nvSpPr>
          <p:cNvPr id="51758257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BA60ED-2DE2-45B7-8149-40D873EB0264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  <a:endParaRPr/>
          </a:p>
        </p:txBody>
      </p:sp>
      <p:sp>
        <p:nvSpPr>
          <p:cNvPr id="45200124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1BEB446-4792-4DF0-B8A3-7CE47800C5E0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  <a:endParaRPr/>
          </a:p>
        </p:txBody>
      </p:sp>
      <p:sp>
        <p:nvSpPr>
          <p:cNvPr id="196981044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5B2824E-C1D1-47D9-9D2A-A5ACCDE1F85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  <a:endParaRPr/>
          </a:p>
        </p:txBody>
      </p:sp>
      <p:sp>
        <p:nvSpPr>
          <p:cNvPr id="33944626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43BBDEE6-FDCB-4044-947D-97F426C90C24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  <a:endParaRPr/>
          </a:p>
        </p:txBody>
      </p:sp>
      <p:sp>
        <p:nvSpPr>
          <p:cNvPr id="1995388406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6A2B971D-71EC-40CD-953E-5CC01078F643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1" showMasterPhAnim="0" matchingName="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61590879" name="Дата 3">
            <a:extLst xmlns:a="http://schemas.openxmlformats.org/drawingml/2006/main">
              <a:ext uri="{FF2B5EF4-FFF2-40B4-BE49-F238E27FC236}">
                <a16:creationId xmlns:a16="http://schemas.microsoft.com/office/drawing/2014/main" id="{0890CFC4-5FD2-4AB4-9D7D-1D96047B071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CAFA80CC-940E-479C-90C0-76DA923785E9}" type="datetime1">
              <a:t>09.10.2026</a:t>
            </a:fld>
            <a:endParaRPr/>
          </a:p>
        </p:txBody>
      </p:sp>
      <p:sp>
        <p:nvSpPr>
          <p:cNvPr id="2099741101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27BC9DA5-C1F2-4884-91FA-CBA2011929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06884580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94770887-66AD-4E2A-B3D2-3ADB4A97D60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214846449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344B655D-162F-48F0-9362-429D689523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40868669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57B100C-3015-48D4-AEE0-199B14313D53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38201619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1D705F70-E03C-4DA4-B24E-064E3BA25B08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972239528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7BEAF317-0658-432A-AFE3-AB0C0628BBD2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82802651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97B5C776-C652-4910-8D51-912951354C8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showMasterSp="1" showMasterPhAnim="0" matchingName="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5028465" name="Дата 3">
            <a:extLst xmlns:a="http://schemas.openxmlformats.org/drawingml/2006/main">
              <a:ext uri="{FF2B5EF4-FFF2-40B4-BE49-F238E27FC236}">
                <a16:creationId xmlns:a16="http://schemas.microsoft.com/office/drawing/2014/main" id="{84E31609-A362-4EDE-A8E4-E2103EEFE66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82A4DA7B-A7D8-4443-AD1C-4C7CDC678488}" type="datetime1">
              <a:t>09.10.2026</a:t>
            </a:fld>
            <a:endParaRPr/>
          </a:p>
        </p:txBody>
      </p:sp>
      <p:sp>
        <p:nvSpPr>
          <p:cNvPr id="34126127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9547804B-87CF-4B0D-93CF-54A1B06DC5F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8753628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03F41058-4773-49C3-814B-7384A7ECDF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954720748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4BA1C3A0-E3EF-4F85-A188-E8D46BCD8D9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  <a:endParaRPr/>
          </a:p>
        </p:txBody>
      </p:sp>
      <p:sp>
        <p:nvSpPr>
          <p:cNvPr id="126817809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6D9F4B23-713D-4F3C-9541-9831B1328A1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3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31031622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74E8E9-3567-4D05-A100-47121FE4C2C4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3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73888480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D7FC8379-9848-49B1-9FD3-5F6F0732A3E9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3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395427353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7B67AD6-E1DA-4DB8-BB14-5CFA6CE82E62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3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00965881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E08DE6B-9950-4763-B757-5706429A2586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3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Sp="1" showMasterPhAnim="0" matchingName="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83090911" name="Дата 3">
            <a:extLst xmlns:a="http://schemas.openxmlformats.org/drawingml/2006/main">
              <a:ext uri="{FF2B5EF4-FFF2-40B4-BE49-F238E27FC236}">
                <a16:creationId xmlns:a16="http://schemas.microsoft.com/office/drawing/2014/main" id="{7B5CBE4A-7D6F-4679-AB0D-FC45773D1FD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4E505DF-C567-47F2-9374-60838F800101}" type="datetime1">
              <a:t>09.10.2026</a:t>
            </a:fld>
            <a:endParaRPr/>
          </a:p>
        </p:txBody>
      </p:sp>
      <p:sp>
        <p:nvSpPr>
          <p:cNvPr id="136358349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05A9FF66-86A4-4905-B725-4209A778333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0962318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D6C6ABF2-571C-4094-8D83-68DA047EF18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31483922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81AAE0B1-916A-4FCD-8E22-FEDDD77942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21373353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0B2089-C4FE-4D62-B9F2-6BE5441D76B5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38576771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74C1113-37AB-4C1E-A15A-EC6DCAC403F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5705850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45457B63-5597-4B78-8D4C-49F0975A300B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56198283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A1E7F7-CF0B-4F63-B5C7-D2AAD47C531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7612478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BE2E646-173B-491B-8B96-3D1D3950E25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5463837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109224F-B02B-45FA-A47F-BDEF159C7694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1" showMasterPhAnim="0" matchingName="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483816" name="Дата 3">
            <a:extLst xmlns:a="http://schemas.openxmlformats.org/drawingml/2006/main">
              <a:ext uri="{FF2B5EF4-FFF2-40B4-BE49-F238E27FC236}">
                <a16:creationId xmlns:a16="http://schemas.microsoft.com/office/drawing/2014/main" id="{5A5D9803-A194-4B12-97D0-4C699E5D7EA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2938A0C3-5C2F-47B8-B008-79A49A1195BA}" type="datetime1">
              <a:t>09.10.2026</a:t>
            </a:fld>
            <a:endParaRPr/>
          </a:p>
        </p:txBody>
      </p:sp>
      <p:sp>
        <p:nvSpPr>
          <p:cNvPr id="141616245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33EAA611-55B2-46FE-92E7-B07C41E0CE2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423437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1CF6C47A-12A4-465C-AC48-62D839A12D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28934329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AF4570F-8953-4D73-95FF-C5ECAECA1E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16317071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46E967-9764-4DF3-816E-5EE8D0E0794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35848973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5C8BB1-A399-45A6-96BE-EB7D39376B4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88044898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7F3ABAC-0795-4C24-A199-7250518F0148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10195456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3586B5D-ECB4-4E0B-994F-46F0D243D103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6778265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139D641-D24B-4AB9-94F5-7420F029588E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38327414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476249-2DDB-4961-9633-8BBF6A46D875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4085554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3DB8880-3E85-4C70-B356-4602C9E1CBA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96251698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6F8CFE4-2E6F-49BE-A147-844518EC854B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1" showMasterPhAnim="0" matchingName="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4157205" name="Дата 3">
            <a:extLst xmlns:a="http://schemas.openxmlformats.org/drawingml/2006/main">
              <a:ext uri="{FF2B5EF4-FFF2-40B4-BE49-F238E27FC236}">
                <a16:creationId xmlns:a16="http://schemas.microsoft.com/office/drawing/2014/main" id="{6B307D26-4834-4F00-B4DB-115510ECC2F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BF4F29EB-DFD0-428E-8E89-ED117A3553E3}" type="datetime1">
              <a:t>09.10.2026</a:t>
            </a:fld>
            <a:endParaRPr/>
          </a:p>
        </p:txBody>
      </p:sp>
      <p:sp>
        <p:nvSpPr>
          <p:cNvPr id="9311950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4FDE339-AAEE-4884-88FA-19128E92C59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1877506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C137B82B-5548-4947-B762-54BB323C8C2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654668318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F6BFA83-23D5-4315-AEDB-2F64342E8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4868553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228A39C-D26B-4E1D-92A6-FA5962F371B9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9182840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C5A3A30-FE7E-48EB-ACA1-95C6C6478B47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31495698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69D0697-C05B-45EA-A4CE-41A871F58DC0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9736168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25C0E99-1421-4B8E-9F5E-3ABEBF3EE7E6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44503842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CDB69F-3F95-4E88-BC66-B6BC6BF3A98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4896394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B51A5D3-B83D-42DD-B7B0-B49ACBA7B61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9033720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B3C6E69-D943-4CAD-A0DD-452984A936A7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76439372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9523AE6-8641-4F95-AC8C-F013EDF3B878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showMasterSp="1" showMasterPhAnim="0" matchingName="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5988318" name="Дата 3">
            <a:extLst xmlns:a="http://schemas.openxmlformats.org/drawingml/2006/main">
              <a:ext uri="{FF2B5EF4-FFF2-40B4-BE49-F238E27FC236}">
                <a16:creationId xmlns:a16="http://schemas.microsoft.com/office/drawing/2014/main" id="{EFB53CEF-F3A1-4EEA-B996-1FFA6333F2D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52F0272-0FEA-44CE-966E-3D169B2F53D4}" type="datetime1">
              <a:t>09.10.2026</a:t>
            </a:fld>
            <a:endParaRPr/>
          </a:p>
        </p:txBody>
      </p:sp>
      <p:sp>
        <p:nvSpPr>
          <p:cNvPr id="179524507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A57DC3E7-4BA6-4AE7-9767-315DADEB59B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6483726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57E91F0D-0805-4B5F-BB8F-2F687EA1F35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60005932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4178B46-A2A7-4AD3-8826-891FCC2425DD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9041618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3354EA6-58FD-4364-8293-E23E2DF59B54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3270945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1A507F8-6C97-4306-A48A-44414EE8D18F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66452816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012A42E-5549-42FA-85E3-1D339D8B393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11896840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1643056-7B25-4482-A901-FE59C8546CEB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71243899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4D9CD0E-5099-4158-AC6D-6BDE79581035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44859193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E5A95DD-4B43-4552-98B5-BE69C97A84BF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6846558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787F1A6-0B37-4B78-8919-E565FA25FA5C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78678676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2B2B23E-A681-4C91-A39B-E80551F793AA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3997687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8E2A14B-6994-498D-B3F8-E15EAD447AB1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89705962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C1D93E2-13CC-4493-9CFC-96707B26C4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showMasterSp="1" showMasterPhAnim="0" matchingName="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81916288" name="Дата 3">
            <a:extLst xmlns:a="http://schemas.openxmlformats.org/drawingml/2006/main">
              <a:ext uri="{FF2B5EF4-FFF2-40B4-BE49-F238E27FC236}">
                <a16:creationId xmlns:a16="http://schemas.microsoft.com/office/drawing/2014/main" id="{C95804F1-1275-4FDA-A3D2-56D8E57B942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062B0DBE-B5A9-470E-85A9-7CC062D5339A}" type="datetime1">
              <a:t>09.10.2026</a:t>
            </a:fld>
            <a:endParaRPr/>
          </a:p>
        </p:txBody>
      </p:sp>
      <p:sp>
        <p:nvSpPr>
          <p:cNvPr id="31928620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8ED4592-A2FB-4345-9EFB-080DC53D3B3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5300169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B4551702-43B8-4878-99DC-B05D90EAB44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99619688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3FEEAF83-E71C-4D35-B344-F11D602F51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73142790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7BC98F-A3ED-45F9-8F4E-2D2CFF53EBFB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  <a:endParaRPr/>
          </a:p>
        </p:txBody>
      </p:sp>
      <p:sp>
        <p:nvSpPr>
          <p:cNvPr id="61982085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27E322C-BEFC-4016-BA6C-86B0858BBD0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3974209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5BB4EA3-9859-4F61-8146-13A367A9C0E5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  <a:endParaRPr/>
          </a:p>
        </p:txBody>
      </p:sp>
      <p:sp>
        <p:nvSpPr>
          <p:cNvPr id="170285742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3DEA9FE-C2FD-4A46-A801-9439A100124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  <a:endParaRPr/>
          </a:p>
        </p:txBody>
      </p:sp>
      <p:sp>
        <p:nvSpPr>
          <p:cNvPr id="11798466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679D62F-0914-443E-B456-9256091DD6F0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  <a:endParaRPr/>
          </a:p>
        </p:txBody>
      </p:sp>
      <p:sp>
        <p:nvSpPr>
          <p:cNvPr id="13301221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A2FE53E-63CC-4BEB-B5A0-02D224279F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1" showMasterPhAnim="0" matchingName="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8210636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5F1A9E7-4A45-4B25-B5C1-2529C9E822EF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987908796" name="Дата 3">
            <a:extLst xmlns:a="http://schemas.openxmlformats.org/drawingml/2006/main">
              <a:ext uri="{FF2B5EF4-FFF2-40B4-BE49-F238E27FC236}">
                <a16:creationId xmlns:a16="http://schemas.microsoft.com/office/drawing/2014/main" id="{0B6D7D71-8EB6-4402-AEE2-BF7286EE0DD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D396B86-640F-4AD1-BBB2-E085B6CD8771}" type="datetime1">
              <a:t>09.10.2026</a:t>
            </a:fld>
            <a:endParaRPr/>
          </a:p>
        </p:txBody>
      </p:sp>
      <p:sp>
        <p:nvSpPr>
          <p:cNvPr id="2101133694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B3E85EE7-7EE6-4C45-BE16-078FE3739D9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7376798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623AD78C-DB06-4BA4-8C48-BCAC8DA9691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6285240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095879E-0D35-4A22-AD7E-F39EC17526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47939721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664046A4-FBF3-4013-B2A4-E217142F870F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90017380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27373452-FCD5-4FF1-8F52-4613ACAB5598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644207884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13B94FA-C5B8-4808-B0F4-0067A036105B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1" showMasterPhAnim="0" matchingName="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9730941" name="Дата 3">
            <a:extLst xmlns:a="http://schemas.openxmlformats.org/drawingml/2006/main">
              <a:ext uri="{FF2B5EF4-FFF2-40B4-BE49-F238E27FC236}">
                <a16:creationId xmlns:a16="http://schemas.microsoft.com/office/drawing/2014/main" id="{9768A993-EE47-4B75-9C72-B7BD4A35DD6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93AF0E63-1EB1-47F5-B09E-CA3E5DE528F3}" type="datetime1">
              <a:t>09.10.2026</a:t>
            </a:fld>
            <a:endParaRPr/>
          </a:p>
        </p:txBody>
      </p:sp>
      <p:sp>
        <p:nvSpPr>
          <p:cNvPr id="374721424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D05E8-016C-478F-9C03-2F07655F319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11714573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15B81F4B-5548-4363-B6D6-82ADBB32C2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72660409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2DC98F2-BE69-4CD6-A5DA-77573AC3CD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016880952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1A0B6EA9-B1AE-4ED4-9097-0DB469BF15E7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994522415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CC24F35-B6FE-4193-8452-72FA214646C2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83078398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0F9CE682-D45B-417D-BABC-7C0B6D1D6E37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74603010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BE25C742-3B21-45E1-BEA8-212F1272CBEA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showMasterSp="1" showMasterPhAnim="0" matchingName="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000506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F96D7AE-7626-4A46-B461-86D3B6C9171F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21447999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4CA652E-B3A2-4966-8B90-FD549EBA0EAB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23861938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63E8612-2D3D-4989-B699-C7DC017F2B31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0225835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3C5716-B341-49AB-8430-397C4503735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0" y="1641283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71237434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8DE59EC-3629-4B39-83BE-ED1F07212048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0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11276444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7611562-5908-4BDA-9486-F0A8D45376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16264482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B125653-E8A7-4AC2-8EB3-BABD2B4F05E5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9865930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341C022-6D51-43C9-B13E-0397186BDC91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0" y="3864598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13817666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8A7102E-57FF-44E5-959C-1C08FB35CA4A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0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cxnSp>
        <p:nvCxnSpPr>
          <p:cNvPr id="2055895591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4A6F2242-FE01-47EB-8CF9-E044F9E1ABB6}"/>
              </a:ext>
            </a:extLst>
          </p:cNvPr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7296409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F3212929-4F38-4B2C-B044-405F05DD870D}"/>
              </a:ext>
            </a:extLst>
          </p:cNvPr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3360490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553E2B19-43A5-4D59-932E-48036D1DEF99}"/>
              </a:ext>
            </a:extLst>
          </p:cNvPr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52744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24B72E84-6181-468F-A6F2-7EEFF0EE3BA2}"/>
              </a:ext>
            </a:extLst>
          </p:cNvPr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9216469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EBC44ADB-06CE-48A8-9A2D-A55BE082AD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892262782" name="Дата 8">
            <a:extLst xmlns:a="http://schemas.openxmlformats.org/drawingml/2006/main">
              <a:ext uri="{FF2B5EF4-FFF2-40B4-BE49-F238E27FC236}">
                <a16:creationId xmlns:a16="http://schemas.microsoft.com/office/drawing/2014/main" id="{2DFC94B9-22B6-4C0D-9F4E-72A6C1639DDD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9D490EE5-ED7D-46E8-8345-A78A0CB0F4A4}" type="datetime1">
              <a:t>09.10.2026</a:t>
            </a:fld>
            <a:endParaRPr/>
          </a:p>
        </p:txBody>
      </p:sp>
      <p:sp>
        <p:nvSpPr>
          <p:cNvPr id="866242127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17FC3390-A4C6-4833-A1C2-066BE78F79EA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68493223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F0DFB0C5-6321-4CED-90DB-4104455B4B70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showMasterSp="1" showMasterPhAnim="0" matchingName="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7630636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8C1B5DED-EAFF-45C7-B9DE-49F20ADCD1B5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59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967808997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74B4775F-6E36-485F-889E-5EFF6CA5FDFF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22764444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41C1DAB2-834C-4AB4-B192-2BB59DD757DD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2000875737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A8B9EBE2-E431-4913-8A32-AEE61F9EEB9D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51686011" name="Дата 3">
            <a:extLst xmlns:a="http://schemas.openxmlformats.org/drawingml/2006/main">
              <a:ext uri="{FF2B5EF4-FFF2-40B4-BE49-F238E27FC236}">
                <a16:creationId xmlns:a16="http://schemas.microsoft.com/office/drawing/2014/main" id="{C60659B5-069D-4FA5-9AAD-4BA6FFB952D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C8C16AD-D907-4463-BE30-FCBB33ACAE3F}" type="datetime1">
              <a:t>09.10.2026</a:t>
            </a:fld>
            <a:endParaRPr/>
          </a:p>
        </p:txBody>
      </p:sp>
      <p:sp>
        <p:nvSpPr>
          <p:cNvPr id="1532086634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96F7BF5A-D981-4B1B-81CA-9249D928869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8370173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FF81C118-9B12-4AE2-8FC9-63DDB805064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&lt;#&gt;</a:t>
            </a:fld>
            <a:endParaRPr/>
          </a:p>
        </p:txBody>
      </p:sp>
      <p:sp>
        <p:nvSpPr>
          <p:cNvPr id="140933974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3912CA92-E00A-43A1-AD35-443B14D53159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2095063733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771FC24-3405-4AFB-B9B7-DCF2F5FDF088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76255181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23DF7E-D01F-49F8-B2DA-C6820524A66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206742570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57106F04-74E0-4C6E-B569-6C0A25B76FBB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70971110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2A667FC-12E8-41FE-8C09-26C6EC53AE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showMasterSp="1" showMasterPhAnim="0" matchingName="" preserve="0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0f1d03a0c6b41bb" /><Relationship Type="http://schemas.openxmlformats.org/officeDocument/2006/relationships/theme" Target="/ppt/slideMasters/theme/theme2.xml" Id="R3f302b4bfceb4079" /><Relationship Type="http://schemas.openxmlformats.org/officeDocument/2006/relationships/slideLayout" Target="/ppt/slideLayouts/slideLayout1.xml" Id="Ra4c2b5fb33ed4909" /><Relationship Type="http://schemas.openxmlformats.org/officeDocument/2006/relationships/slideLayout" Target="/ppt/slideLayouts/slideLayout2.xml" Id="Rb4c154f2bf9b47df" /><Relationship Type="http://schemas.openxmlformats.org/officeDocument/2006/relationships/slideLayout" Target="/ppt/slideLayouts/slideLayout3.xml" Id="Rb6190374bc6545da" /><Relationship Type="http://schemas.openxmlformats.org/officeDocument/2006/relationships/slideLayout" Target="/ppt/slideLayouts/slideLayout4.xml" Id="Rf48b42c3b6fe42a6" /><Relationship Type="http://schemas.openxmlformats.org/officeDocument/2006/relationships/slideLayout" Target="/ppt/slideLayouts/slideLayout5.xml" Id="Ra9a5cda57b374e08" /><Relationship Type="http://schemas.openxmlformats.org/officeDocument/2006/relationships/slideLayout" Target="/ppt/slideLayouts/slideLayout6.xml" Id="Rac17d253db064366" /><Relationship Type="http://schemas.openxmlformats.org/officeDocument/2006/relationships/slideLayout" Target="/ppt/slideLayouts/slideLayout7.xml" Id="R023669ddaa0547e2" /><Relationship Type="http://schemas.openxmlformats.org/officeDocument/2006/relationships/slideLayout" Target="/ppt/slideLayouts/slideLayout8.xml" Id="R0753685509184f41" /><Relationship Type="http://schemas.openxmlformats.org/officeDocument/2006/relationships/slideLayout" Target="/ppt/slideLayouts/slideLayout9.xml" Id="R75f2fd47458a44e9" /><Relationship Type="http://schemas.openxmlformats.org/officeDocument/2006/relationships/slideLayout" Target="/ppt/slideLayouts/slideLayout10.xml" Id="R8cee296f3a534913" /><Relationship Type="http://schemas.openxmlformats.org/officeDocument/2006/relationships/slideLayout" Target="/ppt/slideLayouts/slideLayout11.xml" Id="Ra2203736ca7247e8" /><Relationship Type="http://schemas.openxmlformats.org/officeDocument/2006/relationships/slideLayout" Target="/ppt/slideLayouts/slideLayout12.xml" Id="Rf87e2ed10faf44e2" /><Relationship Type="http://schemas.openxmlformats.org/officeDocument/2006/relationships/slideLayout" Target="/ppt/slideLayouts/slideLayout13.xml" Id="Rbdbabb5a0b70434d" /><Relationship Type="http://schemas.openxmlformats.org/officeDocument/2006/relationships/slideLayout" Target="/ppt/slideLayouts/slideLayout14.xml" Id="Rc8caaa1d348d4dd6" /><Relationship Type="http://schemas.openxmlformats.org/officeDocument/2006/relationships/slideLayout" Target="/ppt/slideLayouts/slideLayout15.xml" Id="Rb4e6b9eefcac43f4" /><Relationship Type="http://schemas.openxmlformats.org/officeDocument/2006/relationships/slideLayout" Target="/ppt/slideLayouts/slideLayout16.xml" Id="R9276dd8e2072475b" /><Relationship Type="http://schemas.openxmlformats.org/officeDocument/2006/relationships/slideLayout" Target="/ppt/slideLayouts/slideLayout17.xml" Id="R4cb3db0ffc00452c" /><Relationship Type="http://schemas.openxmlformats.org/officeDocument/2006/relationships/slideLayout" Target="/ppt/slideLayouts/slideLayout18.xml" Id="Ra489e5e2203046ab" /><Relationship Type="http://schemas.openxmlformats.org/officeDocument/2006/relationships/slideLayout" Target="/ppt/slideLayouts/slideLayout19.xml" Id="Rddfdb1b130b04561" /><Relationship Type="http://schemas.openxmlformats.org/officeDocument/2006/relationships/slideLayout" Target="/ppt/slideLayouts/slideLayout20.xml" Id="R0afbe284097b4112" /><Relationship Type="http://schemas.openxmlformats.org/officeDocument/2006/relationships/slideLayout" Target="/ppt/slideLayouts/slideLayout21.xml" Id="Ra16adb321b08412d" /><Relationship Type="http://schemas.openxmlformats.org/officeDocument/2006/relationships/slideLayout" Target="/ppt/slideLayouts/slideLayout22.xml" Id="R7e6a094f1d644ff7" /><Relationship Type="http://schemas.openxmlformats.org/officeDocument/2006/relationships/slideLayout" Target="/ppt/slideLayouts/slideLayout23.xml" Id="R6b19fce667e04577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0f1d03a0c6b41bb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633451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6BAAB21-C169-4DAD-948E-81840BC1DD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796748927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2536E6-3F09-4B8D-B484-AE75EF0D58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243844905" name="Дата 3">
            <a:extLst xmlns:a="http://schemas.openxmlformats.org/drawingml/2006/main">
              <a:ext uri="{FF2B5EF4-FFF2-40B4-BE49-F238E27FC236}">
                <a16:creationId xmlns:a16="http://schemas.microsoft.com/office/drawing/2014/main" id="{84D9C23F-1E69-480E-8A36-490040BE17E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9D490EE5-ED7D-46E8-8345-A78A0CB0F4A4}" type="datetime1">
              <a:t>09.10.2026</a:t>
            </a:fld>
            <a:endParaRPr/>
          </a:p>
        </p:txBody>
      </p:sp>
      <p:sp>
        <p:nvSpPr>
          <p:cNvPr id="356719477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92D3F668-1858-4879-8191-1A608E3A9E6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8883483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953D54B2-E641-4CB1-A3AE-E4AD51BB8F3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2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c2b5fb33ed4909"/>
    <p:sldLayoutId xmlns:r="http://schemas.openxmlformats.org/officeDocument/2006/relationships" id="2147483650" r:id="Rb4c154f2bf9b47df"/>
    <p:sldLayoutId xmlns:r="http://schemas.openxmlformats.org/officeDocument/2006/relationships" id="2147483651" r:id="Rb6190374bc6545da"/>
    <p:sldLayoutId xmlns:r="http://schemas.openxmlformats.org/officeDocument/2006/relationships" id="2147483652" r:id="Rf48b42c3b6fe42a6"/>
    <p:sldLayoutId xmlns:r="http://schemas.openxmlformats.org/officeDocument/2006/relationships" id="2147483653" r:id="Ra9a5cda57b374e08"/>
    <p:sldLayoutId xmlns:r="http://schemas.openxmlformats.org/officeDocument/2006/relationships" id="2147483654" r:id="Rac17d253db064366"/>
    <p:sldLayoutId xmlns:r="http://schemas.openxmlformats.org/officeDocument/2006/relationships" id="2147483655" r:id="R023669ddaa0547e2"/>
    <p:sldLayoutId xmlns:r="http://schemas.openxmlformats.org/officeDocument/2006/relationships" id="2147483656" r:id="R0753685509184f41"/>
    <p:sldLayoutId xmlns:r="http://schemas.openxmlformats.org/officeDocument/2006/relationships" id="2147483657" r:id="R75f2fd47458a44e9"/>
    <p:sldLayoutId xmlns:r="http://schemas.openxmlformats.org/officeDocument/2006/relationships" id="2147483658" r:id="R8cee296f3a534913"/>
    <p:sldLayoutId xmlns:r="http://schemas.openxmlformats.org/officeDocument/2006/relationships" id="2147483659" r:id="Ra2203736ca7247e8"/>
    <p:sldLayoutId xmlns:r="http://schemas.openxmlformats.org/officeDocument/2006/relationships" id="2147483660" r:id="Rf87e2ed10faf44e2"/>
    <p:sldLayoutId xmlns:r="http://schemas.openxmlformats.org/officeDocument/2006/relationships" id="2147483661" r:id="Rbdbabb5a0b70434d"/>
    <p:sldLayoutId xmlns:r="http://schemas.openxmlformats.org/officeDocument/2006/relationships" id="2147483662" r:id="Rc8caaa1d348d4dd6"/>
    <p:sldLayoutId xmlns:r="http://schemas.openxmlformats.org/officeDocument/2006/relationships" id="2147483663" r:id="Rb4e6b9eefcac43f4"/>
    <p:sldLayoutId xmlns:r="http://schemas.openxmlformats.org/officeDocument/2006/relationships" id="2147483664" r:id="R9276dd8e2072475b"/>
    <p:sldLayoutId xmlns:r="http://schemas.openxmlformats.org/officeDocument/2006/relationships" id="2147483665" r:id="R4cb3db0ffc00452c"/>
    <p:sldLayoutId xmlns:r="http://schemas.openxmlformats.org/officeDocument/2006/relationships" id="2147483666" r:id="Ra489e5e2203046ab"/>
    <p:sldLayoutId xmlns:r="http://schemas.openxmlformats.org/officeDocument/2006/relationships" id="2147483667" r:id="Rddfdb1b130b04561"/>
    <p:sldLayoutId xmlns:r="http://schemas.openxmlformats.org/officeDocument/2006/relationships" id="2147483668" r:id="R0afbe284097b4112"/>
    <p:sldLayoutId xmlns:r="http://schemas.openxmlformats.org/officeDocument/2006/relationships" id="2147483669" r:id="Ra16adb321b08412d"/>
    <p:sldLayoutId xmlns:r="http://schemas.openxmlformats.org/officeDocument/2006/relationships" id="2147483670" r:id="R7e6a094f1d644ff7"/>
    <p:sldLayoutId xmlns:r="http://schemas.openxmlformats.org/officeDocument/2006/relationships" id="2147483671" r:id="R6b19fce667e04577"/>
  </p:sldLayoutIdLst>
  <p:hf sldNum="1" hdr="0" ftr="0" dt="0"/>
  <p:txStyles>
    <p:titleStyle>
      <a:lvl1pPr xmlns:a="http://schemas.openxmlformats.org/drawingml/2006/main" algn="l" defTabSz="578755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Пользовательские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87d86bac24b94" /><Relationship Type="http://schemas.openxmlformats.org/officeDocument/2006/relationships/image" Target="/ppt/media/image3.png" Id="R5b2eec750bd7423d" /><Relationship Type="http://schemas.openxmlformats.org/officeDocument/2006/relationships/notesSlide" Target="/ppt/notesSlides/notesSlide1.xml" Id="R411ae582fc304f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7c5ae07c914f20" /><Relationship Type="http://schemas.openxmlformats.org/officeDocument/2006/relationships/image" Target="/ppt/media/image4.png" Id="R4aab5f1e3fd94a35" /><Relationship Type="http://schemas.openxmlformats.org/officeDocument/2006/relationships/image" Target="/ppt/media/image5.png" Id="R0ccb59d98cd94358" /><Relationship Type="http://schemas.openxmlformats.org/officeDocument/2006/relationships/notesSlide" Target="/ppt/notesSlides/notesSlide2.xml" Id="R80cfaf7fd4464f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5960a5883d4edc" /><Relationship Type="http://schemas.openxmlformats.org/officeDocument/2006/relationships/image" Target="/ppt/media/image.png" Id="R40794fd12d0e4673" /><Relationship Type="http://schemas.openxmlformats.org/officeDocument/2006/relationships/hyperlink" Target="https://t.me/Dteaher" TargetMode="External" Id="R69b01313646c49a0" /><Relationship Type="http://schemas.openxmlformats.org/officeDocument/2006/relationships/hyperlink" Target="https://t.me/Vanlavir" TargetMode="External" Id="R086ecf5fcfe2462c" /><Relationship Type="http://schemas.openxmlformats.org/officeDocument/2006/relationships/notesSlide" Target="/ppt/notesSlides/notesSlide3.xml" Id="Rec4708b537da49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1c003faee0f437f" /><Relationship Type="http://schemas.openxmlformats.org/officeDocument/2006/relationships/image" Target="/ppt/media/image6.png" Id="R9d1692c726b942bb" /><Relationship Type="http://schemas.openxmlformats.org/officeDocument/2006/relationships/notesSlide" Target="/ppt/notesSlides/notesSlide4.xml" Id="R05ca0e618fb442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56f517b34374434" /><Relationship Type="http://schemas.openxmlformats.org/officeDocument/2006/relationships/image" Target="/ppt/media/image.png" Id="R77519a208b41416e" /><Relationship Type="http://schemas.openxmlformats.org/officeDocument/2006/relationships/notesSlide" Target="/ppt/notesSlides/notesSlide5.xml" Id="R02e23ba33a654a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544abea9acf4b95" /><Relationship Type="http://schemas.openxmlformats.org/officeDocument/2006/relationships/image" Target="/ppt/media/image.png" Id="Rc891c591bc88491a" /><Relationship Type="http://schemas.openxmlformats.org/officeDocument/2006/relationships/notesSlide" Target="/ppt/notesSlides/notesSlide6.xml" Id="R43d53256b7f040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cbb2715ee51486c" /><Relationship Type="http://schemas.openxmlformats.org/officeDocument/2006/relationships/image" Target="/ppt/media/image4.png" Id="Rd7f2814ec9e743fc" /><Relationship Type="http://schemas.openxmlformats.org/officeDocument/2006/relationships/notesSlide" Target="/ppt/notesSlides/notesSlide7.xml" Id="R913f30a1e4384d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3304453108a4f0e" /><Relationship Type="http://schemas.openxmlformats.org/officeDocument/2006/relationships/image" Target="/ppt/media/image6.png" Id="R54058c8f9dc44689" /><Relationship Type="http://schemas.openxmlformats.org/officeDocument/2006/relationships/image" Target="/ppt/media/image7.png" Id="R99cf6c33d42d42b8" /><Relationship Type="http://schemas.openxmlformats.org/officeDocument/2006/relationships/notesSlide" Target="/ppt/notesSlides/notesSlide8.xml" Id="R8b112d7757cf49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5f8effa6d1d4902" /><Relationship Type="http://schemas.openxmlformats.org/officeDocument/2006/relationships/image" Target="/ppt/media/image6.png" Id="Rbd82fbf131834a9b" /><Relationship Type="http://schemas.openxmlformats.org/officeDocument/2006/relationships/image" Target="/ppt/media/image8.png" Id="R0efa90fcce7842a1" /><Relationship Type="http://schemas.openxmlformats.org/officeDocument/2006/relationships/notesSlide" Target="/ppt/notesSlides/notesSlide9.xml" Id="R9f1a82ad51974b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e7e8fa53c204346" /><Relationship Type="http://schemas.openxmlformats.org/officeDocument/2006/relationships/image" Target="/ppt/media/image.png" Id="Rc6bdcdea8c614cb8" /><Relationship Type="http://schemas.openxmlformats.org/officeDocument/2006/relationships/notesSlide" Target="/ppt/notesSlides/notesSlide10.xml" Id="R35b086c11ddf4f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f1ce05a71104bad" /><Relationship Type="http://schemas.openxmlformats.org/officeDocument/2006/relationships/image" Target="/ppt/media/image6.png" Id="Rc1b29e77838649e5" /><Relationship Type="http://schemas.openxmlformats.org/officeDocument/2006/relationships/chart" Target="/ppt/slides/charts/chart1.xml" Id="R56a37457fd5d4e6e" /><Relationship Type="http://schemas.openxmlformats.org/officeDocument/2006/relationships/notesSlide" Target="/ppt/notesSlides/notesSlide11.xml" Id="R70b6221b07c64d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f4a17d203c0460a" /><Relationship Type="http://schemas.openxmlformats.org/officeDocument/2006/relationships/image" Target="/ppt/media/image6.png" Id="R7e8e0d1d388d470f" /><Relationship Type="http://schemas.openxmlformats.org/officeDocument/2006/relationships/notesSlide" Target="/ppt/notesSlides/notesSlide12.xml" Id="R04475e9c71534a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7cb64b0619d439c" /><Relationship Type="http://schemas.openxmlformats.org/officeDocument/2006/relationships/image" Target="/ppt/media/image.png" Id="R650e599f4f51425a" /><Relationship Type="http://schemas.openxmlformats.org/officeDocument/2006/relationships/notesSlide" Target="/ppt/notesSlides/notesSlide13.xml" Id="R75af79f54ab04d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a2b253ec41c4be9" /><Relationship Type="http://schemas.openxmlformats.org/officeDocument/2006/relationships/image" Target="/ppt/media/image.png" Id="Rbb510013c25545c5" /><Relationship Type="http://schemas.openxmlformats.org/officeDocument/2006/relationships/chart" Target="/ppt/slides/charts/chart2.xml" Id="Rc63e03722ad54a35" /><Relationship Type="http://schemas.openxmlformats.org/officeDocument/2006/relationships/notesSlide" Target="/ppt/notesSlides/notesSlide14.xml" Id="Rd2c3a365142d43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bc991a98cce4f09" /><Relationship Type="http://schemas.openxmlformats.org/officeDocument/2006/relationships/image" Target="/ppt/media/image6.png" Id="R8d115f8546ea41ca" /><Relationship Type="http://schemas.openxmlformats.org/officeDocument/2006/relationships/notesSlide" Target="/ppt/notesSlides/notesSlide15.xml" Id="R755fcb743adc46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7af62720dc4aef" /><Relationship Type="http://schemas.openxmlformats.org/officeDocument/2006/relationships/image" Target="/ppt/media/image6.png" Id="Rfcf8d98026bc4037" /><Relationship Type="http://schemas.openxmlformats.org/officeDocument/2006/relationships/notesSlide" Target="/ppt/notesSlides/notesSlide16.xml" Id="Rf8a6ae62208146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44ff7bda1044c8f" /><Relationship Type="http://schemas.openxmlformats.org/officeDocument/2006/relationships/image" Target="/ppt/media/image2.png" Id="Ra07523175a084038" /><Relationship Type="http://schemas.openxmlformats.org/officeDocument/2006/relationships/hyperlink" Target="https://fsp-talent-lct.ambergleam8.chatgpt.site/" TargetMode="External" Id="R04a5759039874917" /><Relationship Type="http://schemas.openxmlformats.org/officeDocument/2006/relationships/hyperlink" Target="https://github.com/vanlavir/Talent-thsp" TargetMode="External" Id="Rd3fb695ff55b495f" /><Relationship Type="http://schemas.openxmlformats.org/officeDocument/2006/relationships/notesSlide" Target="/ppt/notesSlides/notesSlide17.xml" Id="R7999f152defc4b8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Максимальный вклад</c:v>
          </c:tx>
          <c:spPr>
            <a:solidFill xmlns:a="http://schemas.openxmlformats.org/drawingml/2006/main">
              <a:srgbClr val="FF0053"/>
            </a:solidFill>
          </c:spPr>
          <c:cat>
            <c:strRef>
              <c:f>'Chart Data'!$A$2:$A$7</c:f>
              <c:strCache>
                <c:ptCount val="6"/>
                <c:pt idx="0">
                  <c:v>Специализация</c:v>
                </c:pt>
                <c:pt idx="1">
                  <c:v>Грейд</c:v>
                </c:pt>
                <c:pt idx="2">
                  <c:v>Заявленный стек</c:v>
                </c:pt>
                <c:pt idx="3">
                  <c:v>Тест</c:v>
                </c:pt>
                <c:pt idx="4">
                  <c:v>Достижения ФСП</c:v>
                </c:pt>
                <c:pt idx="5">
                  <c:v>Формат работы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35</c:v>
                </c:pt>
                <c:pt idx="1">
                  <c:v>20</c:v>
                </c:pt>
                <c:pt idx="2">
                  <c:v>25</c:v>
                </c:pt>
                <c:pt idx="3">
                  <c:v>12</c:v>
                </c:pt>
                <c:pt idx="4">
                  <c:v>6</c:v>
                </c:pt>
                <c:pt idx="5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C1D22"/>
                  </a:solidFill>
                  <a:latin typeface="Montserrat"/>
                  <a:ea typeface="Montserrat"/>
                  <a:cs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1D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Индекс платформы</c:v>
          </c:tx>
          <c:spPr>
            <a:solidFill xmlns:a="http://schemas.openxmlformats.org/drawingml/2006/main">
              <a:srgbClr val="FF0053"/>
            </a:solidFill>
          </c:spPr>
          <c:cat>
            <c:strRef>
              <c:f>'Chart Data'!$A$2:$A$4</c:f>
              <c:strCache>
                <c:ptCount val="3"/>
                <c:pt idx="0">
                  <c:v>Precision@1</c:v>
                </c:pt>
                <c:pt idx="1">
                  <c:v>Precision@5</c:v>
                </c:pt>
                <c:pt idx="2">
                  <c:v>nDCG@5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v>Только стек</c:v>
          </c:tx>
          <c:spPr>
            <a:solidFill xmlns:a="http://schemas.openxmlformats.org/drawingml/2006/main">
              <a:srgbClr val="8A83D1"/>
            </a:solidFill>
          </c:spPr>
          <c:cat>
            <c:strRef>
              <c:f>'Chart Data'!$C$2:$C$4</c:f>
              <c:strCache>
                <c:ptCount val="3"/>
                <c:pt idx="0">
                  <c:v>Precision@1</c:v>
                </c:pt>
                <c:pt idx="1">
                  <c:v>Precision@5</c:v>
                </c:pt>
                <c:pt idx="2">
                  <c:v>nDCG@5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0.916667</c:v>
                </c:pt>
                <c:pt idx="1">
                  <c:v>0.95</c:v>
                </c:pt>
                <c:pt idx="2">
                  <c:v>0.946671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FFFFFF"/>
                  </a:solidFill>
                  <a:latin typeface="Montserrat"/>
                  <a:ea typeface="Montserrat"/>
                  <a:cs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8A83D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FFFFFF"/>
              </a:solidFill>
              <a:latin typeface="Montserrat"/>
              <a:ea typeface="Montserrat"/>
              <a:cs typeface="Montserrat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 showMasterSp="1" show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8590350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02C4762E-24B4-4627-AFA7-71FE4131663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42900" y="3381375"/>
            <a:ext cx="6667500" cy="1000125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268288" indent="0">
              <a:buNone/>
              <a:defRPr sz="48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8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ФСП · Talent</a:t>
            </a:r>
            <a:endParaRPr sz="4800"/>
          </a:p>
        </p:txBody>
      </p:sp>
      <p:sp>
        <p:nvSpPr>
          <p:cNvPr id="1396488727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D0374CF-6732-45B8-B0C7-E4E4E74EAD4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42900" y="5572125"/>
            <a:ext cx="8286750" cy="857250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271463" indent="-3175">
              <a:buNone/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Цифровая платформа-агрегатор ИТ-вакансий</a:t>
            </a:r>
            <a:endParaRPr/>
          </a:p>
          <a:p xmlns:a="http://schemas.openxmlformats.org/drawingml/2006/main">
            <a:pPr marL="271463" indent="-3175">
              <a:buNone/>
              <a:def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 верифицированным профилем достижений участника ФСП</a:t>
            </a:r>
            <a:endParaRPr/>
          </a:p>
        </p:txBody>
      </p:sp>
      <p:sp>
        <p:nvSpPr>
          <p:cNvPr id="1291188019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CC25D8A9-95BA-424B-976D-20B421BF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205405575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3A851FFE-25E2-401C-A079-EE671B3D4B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2eec750bd7423d"/>
          <a:stretch xmlns:a="http://schemas.openxmlformats.org/drawingml/2006/main"/>
        </p:blipFill>
        <p:spPr>
          <a:xfrm xmlns:a="http://schemas.openxmlformats.org/drawingml/2006/main">
            <a:off x="346075" y="631174"/>
            <a:ext cx="4905194" cy="620035"/>
          </a:xfrm>
          <a:prstGeom xmlns:a="http://schemas.openxmlformats.org/drawingml/2006/main" prst="rect">
            <a:avLst/>
          </a:prstGeom>
        </p:spPr>
      </p:pic>
      <p:sp>
        <p:nvSpPr>
          <p:cNvPr id="2054055759" name="Команда Phasma">
            <a:extLst xmlns:a="http://schemas.openxmlformats.org/drawingml/2006/main">
              <a:ext uri="{FF2B5EF4-FFF2-40B4-BE49-F238E27FC236}">
                <a16:creationId xmlns:a16="http://schemas.microsoft.com/office/drawing/2014/main" id="{05554D54-24D6-4C2E-811E-A474D407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0987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Phasma</a:t>
            </a:r>
          </a:p>
        </p:txBody>
      </p:sp>
      <p:sp>
        <p:nvSpPr>
          <p:cNvPr id="2054055760" name="Обратный найм ИТ-специалистов">
            <a:extLst xmlns:a="http://schemas.openxmlformats.org/drawingml/2006/main">
              <a:ext uri="{FF2B5EF4-FFF2-40B4-BE49-F238E27FC236}">
                <a16:creationId xmlns:a16="http://schemas.microsoft.com/office/drawing/2014/main" id="{1B41A45E-437D-427A-949F-25F8AD27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429125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4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Обратный найм ИТ-специалистов</a:t>
            </a:r>
          </a:p>
        </p:txBody>
      </p:sp>
    </p:spTree>
    <p:extLst>
      <p:ext uri="{BB962C8B-B14F-4D97-AF65-F5344CB8AC3E}">
        <p14:creationId xmlns:p14="http://schemas.microsoft.com/office/powerpoint/2010/main" val="1896951833"/>
      </p:ext>
    </p:extLst>
  </p:cSld>
</p:sld>
</file>

<file path=ppt/slides/slide2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4aab5f1e3fd94a35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6323797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B8697906-A161-4581-A5E6-A50E15C5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493246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E570B0BB-9F47-47BA-A56D-BA6C407E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53973048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E066ADD-9A75-49A0-A542-AB44AA56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00625"/>
            <a:ext cx="4857750" cy="1381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Единый сценарий: категория, портфолио, объяснимый подбор и практическое задание. Контакт открывается после согласия кандидата.</a:t>
            </a:r>
            <a:endParaRPr/>
          </a:p>
        </p:txBody>
      </p:sp>
      <p:sp>
        <p:nvSpPr>
          <p:cNvPr id="30614480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5825DAC0-286C-49AA-90F9-33BE189F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Phasma</a:t>
            </a:r>
            <a:endParaRPr/>
          </a:p>
        </p:txBody>
      </p:sp>
      <p:sp>
        <p:nvSpPr>
          <p:cNvPr id="826050109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05A255C5-3035-4283-90ED-E164C87C6C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9903" y="1039236"/>
            <a:ext cx="3636703" cy="10151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 sz="2400">
              <a:solidFill>
                <a:schemeClr val="accent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19378644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64F1BC6E-D0A3-4302-82A6-CA01F326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56253650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9CB9FEBD-6BDB-469D-B530-1C239D6A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767463605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CC706F40-AD5C-417A-9BA8-53F14B99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8157953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EA9A62E-B6B3-40F7-B240-DC460A3F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33893293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690CCE7-B33B-43FD-8010-02D1ECDE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62250"/>
            <a:ext cx="4857750" cy="14763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Кандидат подтверждает компетенции и попадает в категорию. Работодатель выбирает специалиста и отправляет предложение с зарплатой.</a:t>
            </a:r>
            <a:endParaRPr/>
          </a:p>
        </p:txBody>
      </p:sp>
      <p:sp>
        <p:nvSpPr>
          <p:cNvPr id="600101281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F4E64959-786D-4E28-9148-21E44B75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fld id="{E2598689-54C9-18A7-3A19-ED76AA08988F}" type="slidenum"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2</a:t>
            </a:fld>
            <a:endParaRPr sz="1200">
              <a:solidFill>
                <a:schemeClr val="accent5"/>
              </a:solidFill>
            </a:endParaRPr>
          </a:p>
        </p:txBody>
      </p:sp>
      <p:pic>
        <p:nvPicPr>
          <p:cNvPr id="1767463606" name="">
            <a:extLst xmlns:a="http://schemas.openxmlformats.org/drawingml/2006/main">
              <a:ext uri="{FF2B5EF4-FFF2-40B4-BE49-F238E27FC236}">
                <a16:creationId xmlns:a16="http://schemas.microsoft.com/office/drawing/2014/main" id="{E42EB9A3-B11C-4936-948F-EB79157729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b59d98cd94358"/>
          <a:stretch xmlns:a="http://schemas.openxmlformats.org/drawingml/2006/main"/>
        </p:blipFill>
        <p:spPr>
          <a:xfrm xmlns:a="http://schemas.openxmlformats.org/drawingml/2006/main">
            <a:off x="1048483" y="428625"/>
            <a:ext cx="4322885" cy="2809875"/>
          </a:xfrm>
          <a:prstGeom xmlns:a="http://schemas.openxmlformats.org/drawingml/2006/main" prst="rect">
            <a:avLst/>
          </a:prstGeom>
        </p:spPr>
      </p:pic>
      <p:sp>
        <p:nvSpPr>
          <p:cNvPr id="1767463607" name="2 участника&#10;Капитан: Никита Тарасюк&#10;Никита: п">
            <a:extLst xmlns:a="http://schemas.openxmlformats.org/drawingml/2006/main">
              <a:ext uri="{FF2B5EF4-FFF2-40B4-BE49-F238E27FC236}">
                <a16:creationId xmlns:a16="http://schemas.microsoft.com/office/drawing/2014/main" id="{CFB240D9-B642-41FB-A8DE-19125A5C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52875"/>
            <a:ext cx="552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2 участника</a:t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Капитан: Никита Тарасюк</a:t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Никита: продукт и серверная часть</a:t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Ирина: интерфейс и дизайн</a:t>
            </a:r>
          </a:p>
        </p:txBody>
      </p:sp>
    </p:spTree>
    <p:extLst>
      <p:ext uri="{BB962C8B-B14F-4D97-AF65-F5344CB8AC3E}">
        <p14:creationId xmlns:p14="http://schemas.microsoft.com/office/powerpoint/2010/main" val="155754289"/>
      </p:ext>
    </p:extLst>
  </p:cSld>
</p:sld>
</file>

<file path=ppt/slides/slide3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40794fd12d0e4673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8274178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3EDB75CA-F8FC-44B8-A318-293F9101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5429250" cy="4667250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416366316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48BDF59A-3CBB-4E5B-98D3-C6EA9BE5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524000"/>
            <a:ext cx="5429250" cy="4667250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41888777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5BDB36B-8079-453C-98EF-A4911A55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43" y="324517"/>
            <a:ext cx="6191250" cy="620935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26114460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31151B9-CFE6-4617-8DB2-A2A2973FDB2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fld id="{202359C0-8A7A-196E-DD58-8E6569619F09}" type="slidenum"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10326911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BD392822-469C-457C-87BD-547FA3A0EF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447675"/>
            <a:ext cx="5810250" cy="409575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PHASMA</a:t>
            </a:r>
            <a:endParaRPr>
              <a:latin typeface="Montserrat"/>
              <a:ea typeface="Montserrat"/>
              <a:cs typeface="Montserrat"/>
            </a:endParaRPr>
          </a:p>
        </p:txBody>
      </p:sp>
      <p:sp>
        <p:nvSpPr>
          <p:cNvPr id="541888778" name="Никита Тарасюк">
            <a:extLst xmlns:a="http://schemas.openxmlformats.org/drawingml/2006/main">
              <a:ext uri="{FF2B5EF4-FFF2-40B4-BE49-F238E27FC236}">
                <a16:creationId xmlns:a16="http://schemas.microsoft.com/office/drawing/2014/main" id="{3EDAB1A7-44F3-4C50-B764-929E20C8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Никита Тарасюк</a:t>
            </a:r>
          </a:p>
        </p:txBody>
      </p:sp>
      <p:sp>
        <p:nvSpPr>
          <p:cNvPr id="541888779" name="Капитан команды&#10;Менеджер проекта&#10;Бэкенд-разра">
            <a:extLst xmlns:a="http://schemas.openxmlformats.org/drawingml/2006/main">
              <a:ext uri="{FF2B5EF4-FFF2-40B4-BE49-F238E27FC236}">
                <a16:creationId xmlns:a16="http://schemas.microsoft.com/office/drawing/2014/main" id="{2AE51F61-123E-4694-AF08-6D679EA8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Капитан команды</a:t>
            </a:r>
          </a:p>
          <a:p xmlns:a="http://schemas.openxmlformats.org/drawingml/2006/main">
            <a:pPr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Менеджер проекта</a:t>
            </a:r>
          </a:p>
          <a:p xmlns:a="http://schemas.openxmlformats.org/drawingml/2006/main">
            <a:pPr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Бэкенд-разработчик</a:t>
            </a:r>
          </a:p>
        </p:txBody>
      </p:sp>
      <p:sp>
        <p:nvSpPr>
          <p:cNvPr id="541888780" name="Telegram: @Dteaher">
            <a:extLst xmlns:a="http://schemas.openxmlformats.org/drawingml/2006/main">
              <a:ext uri="{FF2B5EF4-FFF2-40B4-BE49-F238E27FC236}">
                <a16:creationId xmlns:a16="http://schemas.microsoft.com/office/drawing/2014/main" id="{536A1FA8-AC80-47AC-B3F6-8C274975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Telegram: </a:t>
            </a:r>
            <a:r>
              <a:rPr sz="2100" b="0">
                <a:solidFill>
                  <a:srgbClr val="520978"/>
                </a:solidFill>
                <a:latin typeface="Montserrat"/>
                <a:ea typeface="Montserrat"/>
                <a:cs typeface="Montserrat"/>
                <a:hlinkClick xmlns:r="http://schemas.openxmlformats.org/officeDocument/2006/relationships" r:id="R69b01313646c49a0"/>
              </a:rPr>
              <a:t>@Dteaher</a:t>
            </a:r>
          </a:p>
        </p:txBody>
      </p:sp>
      <p:sp>
        <p:nvSpPr>
          <p:cNvPr id="541888781" name="Ирина Чиркова">
            <a:extLst xmlns:a="http://schemas.openxmlformats.org/drawingml/2006/main">
              <a:ext uri="{FF2B5EF4-FFF2-40B4-BE49-F238E27FC236}">
                <a16:creationId xmlns:a16="http://schemas.microsoft.com/office/drawing/2014/main" id="{8789F288-136F-4C9F-BCAA-C9B551E1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Ирина Чиркова</a:t>
            </a:r>
          </a:p>
        </p:txBody>
      </p:sp>
      <p:sp>
        <p:nvSpPr>
          <p:cNvPr id="541888782" name="Фронтенд-разработчик&#10;Дизайнер">
            <a:extLst xmlns:a="http://schemas.openxmlformats.org/drawingml/2006/main">
              <a:ext uri="{FF2B5EF4-FFF2-40B4-BE49-F238E27FC236}">
                <a16:creationId xmlns:a16="http://schemas.microsoft.com/office/drawing/2014/main" id="{15BD9FDB-F706-4B06-9198-1CD5436F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Фронтенд-разработчик</a:t>
            </a:r>
          </a:p>
          <a:p xmlns:a="http://schemas.openxmlformats.org/drawingml/2006/main">
            <a:pPr>
              <a:def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Дизайнер</a:t>
            </a:r>
          </a:p>
        </p:txBody>
      </p:sp>
      <p:sp>
        <p:nvSpPr>
          <p:cNvPr id="541888783" name="Telegram: @Vanlavir">
            <a:extLst xmlns:a="http://schemas.openxmlformats.org/drawingml/2006/main">
              <a:ext uri="{FF2B5EF4-FFF2-40B4-BE49-F238E27FC236}">
                <a16:creationId xmlns:a16="http://schemas.microsoft.com/office/drawing/2014/main" id="{B533DA40-5427-4218-97E8-72C47A3B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958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Telegram: </a:t>
            </a:r>
            <a:r>
              <a:rPr sz="2100" b="0">
                <a:solidFill>
                  <a:srgbClr val="520978"/>
                </a:solidFill>
                <a:latin typeface="Montserrat"/>
                <a:ea typeface="Montserrat"/>
                <a:cs typeface="Montserrat"/>
                <a:hlinkClick xmlns:r="http://schemas.openxmlformats.org/officeDocument/2006/relationships" r:id="R086ecf5fcfe2462c"/>
              </a:rPr>
              <a:t>@Vanlavir</a:t>
            </a:r>
          </a:p>
        </p:txBody>
      </p:sp>
    </p:spTree>
    <p:extLst>
      <p:ext uri="{BB962C8B-B14F-4D97-AF65-F5344CB8AC3E}">
        <p14:creationId xmlns:p14="http://schemas.microsoft.com/office/powerpoint/2010/main" val="342443736"/>
      </p:ext>
    </p:extLst>
  </p:cSld>
</p:sld>
</file>

<file path=ppt/slides/slide4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9d1692c726b942bb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9622360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E1DBBE3E-5B6A-4280-89AF-433B2920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43" y="324517"/>
            <a:ext cx="6191250" cy="620935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949733761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B761284E-3816-40C4-BE05-79A5E7F9F1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fld id="{EFD6AB9A-5F9E-5F59-51AB-3C8734130965}" type="slidenum"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727501653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B045B27A-1983-4F4A-AB34-316B5139EA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447675"/>
            <a:ext cx="5810250" cy="409575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РАБОТА НАД ПРОЕКТОМ</a:t>
            </a:r>
            <a:endParaRPr>
              <a:latin typeface="Montserrat"/>
              <a:ea typeface="Montserrat"/>
              <a:cs typeface="Montserrat"/>
            </a:endParaRPr>
          </a:p>
        </p:txBody>
      </p:sp>
      <p:sp>
        <p:nvSpPr>
          <p:cNvPr id="1580899649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8381A837-B529-4487-B0E7-7EFEBDB8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0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293163774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F2DFABEE-6E98-4285-B38D-662C1747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21593376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5F62DC6E-8B85-4566-97FF-0864F228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2817450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B1CADE6D-6373-4F64-9ABF-A8CC4599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49144457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06B2AC4D-C90D-4D32-BA87-C41E9A1B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96165570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AD8462E-FE76-4C6B-B16A-87E5ABA0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  <a:endParaRPr/>
          </a:p>
        </p:txBody>
      </p:sp>
      <p:sp>
        <p:nvSpPr>
          <p:cNvPr id="1961655708" name="Организация работы">
            <a:extLst xmlns:a="http://schemas.openxmlformats.org/drawingml/2006/main">
              <a:ext uri="{FF2B5EF4-FFF2-40B4-BE49-F238E27FC236}">
                <a16:creationId xmlns:a16="http://schemas.microsoft.com/office/drawing/2014/main" id="{03638D00-6948-4DC8-AC5D-2EA2D85A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Организация работы</a:t>
            </a:r>
          </a:p>
        </p:txBody>
      </p:sp>
      <p:sp>
        <p:nvSpPr>
          <p:cNvPr id="1961655709" name="Разделили продукт и серверную часть, интерфей">
            <a:extLst xmlns:a="http://schemas.openxmlformats.org/drawingml/2006/main">
              <a:ext uri="{FF2B5EF4-FFF2-40B4-BE49-F238E27FC236}">
                <a16:creationId xmlns:a16="http://schemas.microsoft.com/office/drawing/2014/main" id="{9BC82A63-56BD-411A-955F-CADCA1DA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Разделили продукт и серверную часть, интерфейс и дизайн. Проверяли общий сценарий в двух отдельных кабинетах.</a:t>
            </a:r>
          </a:p>
        </p:txBody>
      </p:sp>
      <p:sp>
        <p:nvSpPr>
          <p:cNvPr id="1961655710" name="Оценка квалификации">
            <a:extLst xmlns:a="http://schemas.openxmlformats.org/drawingml/2006/main">
              <a:ext uri="{FF2B5EF4-FFF2-40B4-BE49-F238E27FC236}">
                <a16:creationId xmlns:a16="http://schemas.microsoft.com/office/drawing/2014/main" id="{18156EE6-95E4-4D9B-B825-406AFE14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Оценка квалификации</a:t>
            </a:r>
          </a:p>
        </p:txBody>
      </p:sp>
      <p:sp>
        <p:nvSpPr>
          <p:cNvPr id="1961655711" name="Объединили автоматический тест по грейдам и п">
            <a:extLst xmlns:a="http://schemas.openxmlformats.org/drawingml/2006/main">
              <a:ext uri="{FF2B5EF4-FFF2-40B4-BE49-F238E27FC236}">
                <a16:creationId xmlns:a16="http://schemas.microsoft.com/office/drawing/2014/main" id="{31CBD4B0-BDB1-4A7F-B9E7-BFE143E1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Объединили автоматический тест по грейдам и практическую оценку задания работодателем.</a:t>
            </a:r>
          </a:p>
        </p:txBody>
      </p:sp>
      <p:sp>
        <p:nvSpPr>
          <p:cNvPr id="1961655712" name="Надёжность платформы">
            <a:extLst xmlns:a="http://schemas.openxmlformats.org/drawingml/2006/main">
              <a:ext uri="{FF2B5EF4-FFF2-40B4-BE49-F238E27FC236}">
                <a16:creationId xmlns:a16="http://schemas.microsoft.com/office/drawing/2014/main" id="{8B002C2E-CE2B-417E-B265-0743992B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Надёжность платформы</a:t>
            </a:r>
          </a:p>
        </p:txBody>
      </p:sp>
      <p:sp>
        <p:nvSpPr>
          <p:cNvPr id="1961655713" name="Транзакции сохраняют результат теста и катего">
            <a:extLst xmlns:a="http://schemas.openxmlformats.org/drawingml/2006/main">
              <a:ext uri="{FF2B5EF4-FFF2-40B4-BE49-F238E27FC236}">
                <a16:creationId xmlns:a16="http://schemas.microsoft.com/office/drawing/2014/main" id="{42ED2E96-E884-49F6-97C1-CF9436D4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Транзакции сохраняют результат теста и категорию вместе. Сервер проверяет права доступа к каждой записи.</a:t>
            </a:r>
          </a:p>
        </p:txBody>
      </p:sp>
    </p:spTree>
    <p:extLst>
      <p:ext uri="{BB962C8B-B14F-4D97-AF65-F5344CB8AC3E}">
        <p14:creationId xmlns:p14="http://schemas.microsoft.com/office/powerpoint/2010/main" val="1332108195"/>
      </p:ext>
    </p:extLst>
  </p:cSld>
</p:sld>
</file>

<file path=ppt/slides/slide5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77519a208b41416e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5634442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8C301706-62FF-4BAF-ADCD-00056A98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43" y="324517"/>
            <a:ext cx="6191250" cy="620935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68937420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543A4ED7-CFC0-4967-80A7-4B7F80A3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82881088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9FE6294F-9AAE-419B-84FC-D73EE8FC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071002728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A346D823-6F41-4E85-A2F5-5397401A449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fld id="{EE5B3003-2C54-13C6-9832-7637201064DE}" type="slidenum"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30881606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B8F7C2E-CED3-42DC-8D4B-9AA14D7DB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447675"/>
            <a:ext cx="5810250" cy="409575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КОРОТКО О РЕШЕНИИ</a:t>
            </a:r>
            <a:endParaRPr/>
          </a:p>
        </p:txBody>
      </p:sp>
      <p:sp>
        <p:nvSpPr>
          <p:cNvPr id="1281661732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DDDAD103-73AA-4A75-9B85-A9745A2D2D9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Как работает платформа</a:t>
            </a:r>
            <a:endParaRPr/>
          </a:p>
        </p:txBody>
      </p:sp>
      <p:sp>
        <p:nvSpPr>
          <p:cNvPr id="265138972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B8ABD6D8-683B-4B15-99B0-219CC2A72378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lnSpc>
                <a:spcPct val="100000"/>
              </a:lnSpc>
              <a:buNone/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Кому полезно решение</a:t>
            </a:r>
            <a:endParaRPr/>
          </a:p>
        </p:txBody>
      </p:sp>
      <p:sp>
        <p:nvSpPr>
          <p:cNvPr id="2071002729" name="Профиль и обязательный опрос&#10;&#10;Тест и категори">
            <a:extLst xmlns:a="http://schemas.openxmlformats.org/drawingml/2006/main">
              <a:ext uri="{FF2B5EF4-FFF2-40B4-BE49-F238E27FC236}">
                <a16:creationId xmlns:a16="http://schemas.microsoft.com/office/drawing/2014/main" id="{249E8D5F-7F26-4F39-9E53-476DE16D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857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Профиль и обязательный опрос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Тест и категория по методике MVP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Подбор по роли, грейду и стеку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Приглашение, решение и обратная связь</a:t>
            </a:r>
          </a:p>
        </p:txBody>
      </p:sp>
      <p:sp>
        <p:nvSpPr>
          <p:cNvPr id="2071002730" name="Работодатель получает понятные основания для ">
            <a:extLst xmlns:a="http://schemas.openxmlformats.org/drawingml/2006/main">
              <a:ext uri="{FF2B5EF4-FFF2-40B4-BE49-F238E27FC236}">
                <a16:creationId xmlns:a16="http://schemas.microsoft.com/office/drawing/2014/main" id="{7C6C2AF4-ED1A-4A4E-A24A-B9476849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857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Работодатель получает понятные основания для первого контакта.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Кандидат показывает проекты и результат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ФСП получает основу карьерного сервиса для участников.</a:t>
            </a:r>
          </a:p>
        </p:txBody>
      </p:sp>
    </p:spTree>
    <p:extLst>
      <p:ext uri="{BB962C8B-B14F-4D97-AF65-F5344CB8AC3E}">
        <p14:creationId xmlns:p14="http://schemas.microsoft.com/office/powerpoint/2010/main" val="36640946"/>
      </p:ext>
    </p:extLst>
  </p:cSld>
</p:sld>
</file>

<file path=ppt/slides/slide6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c891c591bc88491a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28457108" name="Скругленный 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49F6EB0F-8B27-45C8-9273-1005409F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41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611787204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A8247FE5-845C-4FB1-B5AC-ECB1A4DB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137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010010384" name="Скругленный 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7721EE9E-FD44-4AA3-A545-5B920257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133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740916960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D78C5429-1120-4654-910F-9F995C8A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43" y="324517"/>
            <a:ext cx="6191250" cy="620935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665932424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A14379DF-B8AC-4150-8095-8B106CC8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262" y="1366572"/>
            <a:ext cx="1504594" cy="1401168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060571495" name="Скругленный 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524853DA-13B4-425D-9ED6-ABC13464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018" y="1366572"/>
            <a:ext cx="1504594" cy="1401168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43034088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3811D5E1-D1E9-475E-9034-072C3F800B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fld id="{8C630A04-5A25-9E0C-9436-126091DB86B3}" type="slidenum"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6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448968636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F30F044A-470A-413B-9C8F-8DCFEE3B0CFF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16268" y="3876675"/>
            <a:ext cx="3238500" cy="233362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Резюме показывает стек, но не раскрывает практическую компетентность. Техническая команда тратит время на первичный отбор.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33550442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BE67344-0591-4447-8430-938695C98555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4569905" y="3876675"/>
            <a:ext cx="3238500" cy="233362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Отклики часто остаются без обратной связи. Проекты и соревновательный опыт трудно представить в стандартном резюме.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74764623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480819D7-6401-41D1-BA7D-2F9442684533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8405051" y="3876675"/>
            <a:ext cx="3238500" cy="233362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Связать профиль с проверкой компетенций. Дать работодателю основания для приглашения и сохранить право кандидата на выбор.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1955822334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05AB8651-1F73-43B7-AF45-D33C3FA6EE4A}"/>
              </a:ext>
            </a:extLst>
          </p:cNvPr>
          <p:cNvCxnSpPr/>
          <p:nvPr/>
        </p:nvCxnSpPr>
        <p:spPr>
          <a:xfrm xmlns:a="http://schemas.openxmlformats.org/drawingml/2006/main" flipV="1">
            <a:off x="3041995" y="2120995"/>
            <a:ext cx="2288595" cy="11479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3" name="Google Shape;2830;p94">
            <a:extLst xmlns:a="http://schemas.openxmlformats.org/drawingml/2006/main">
              <a:ext uri="{FF2B5EF4-FFF2-40B4-BE49-F238E27FC236}">
                <a16:creationId xmlns:a16="http://schemas.microsoft.com/office/drawing/2014/main" id="{3C0852E2-BF74-4553-B9A4-0D076384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9087" y="1753233"/>
            <a:ext cx="738530" cy="687909"/>
          </a:xfrm>
          <a:custGeom xmlns:a="http://schemas.openxmlformats.org/drawingml/2006/main">
            <a:rect l="l" t="t" r="r" b="b"/>
            <a:pathLst>
              <a:path w="10122" h="9289">
                <a:moveTo>
                  <a:pt x="9574" y="310"/>
                </a:moveTo>
                <a:cubicBezTo>
                  <a:pt x="9717" y="310"/>
                  <a:pt x="9812" y="406"/>
                  <a:pt x="9812" y="549"/>
                </a:cubicBezTo>
                <a:lnTo>
                  <a:pt x="9812" y="5669"/>
                </a:lnTo>
                <a:lnTo>
                  <a:pt x="8622" y="5669"/>
                </a:lnTo>
                <a:cubicBezTo>
                  <a:pt x="8550" y="5669"/>
                  <a:pt x="8479" y="5740"/>
                  <a:pt x="8479" y="5812"/>
                </a:cubicBezTo>
                <a:cubicBezTo>
                  <a:pt x="8479" y="5907"/>
                  <a:pt x="8550" y="5978"/>
                  <a:pt x="8622" y="5978"/>
                </a:cubicBezTo>
                <a:lnTo>
                  <a:pt x="9812" y="5978"/>
                </a:lnTo>
                <a:lnTo>
                  <a:pt x="9812" y="6455"/>
                </a:lnTo>
                <a:cubicBezTo>
                  <a:pt x="9812" y="6597"/>
                  <a:pt x="9717" y="6717"/>
                  <a:pt x="9574" y="6717"/>
                </a:cubicBezTo>
                <a:lnTo>
                  <a:pt x="549" y="6717"/>
                </a:lnTo>
                <a:cubicBezTo>
                  <a:pt x="406" y="6717"/>
                  <a:pt x="287" y="6597"/>
                  <a:pt x="287" y="6455"/>
                </a:cubicBezTo>
                <a:lnTo>
                  <a:pt x="287" y="5978"/>
                </a:lnTo>
                <a:lnTo>
                  <a:pt x="7979" y="5978"/>
                </a:lnTo>
                <a:cubicBezTo>
                  <a:pt x="8050" y="5978"/>
                  <a:pt x="8122" y="5907"/>
                  <a:pt x="8122" y="5812"/>
                </a:cubicBezTo>
                <a:cubicBezTo>
                  <a:pt x="8122" y="5740"/>
                  <a:pt x="8050" y="5669"/>
                  <a:pt x="7979" y="5669"/>
                </a:cubicBezTo>
                <a:lnTo>
                  <a:pt x="6216" y="5669"/>
                </a:lnTo>
                <a:lnTo>
                  <a:pt x="6216" y="310"/>
                </a:lnTo>
                <a:close/>
                <a:moveTo>
                  <a:pt x="5335" y="7002"/>
                </a:moveTo>
                <a:lnTo>
                  <a:pt x="5335" y="7193"/>
                </a:lnTo>
                <a:cubicBezTo>
                  <a:pt x="5335" y="7360"/>
                  <a:pt x="5216" y="7479"/>
                  <a:pt x="5049" y="7479"/>
                </a:cubicBezTo>
                <a:cubicBezTo>
                  <a:pt x="4907" y="7479"/>
                  <a:pt x="4764" y="7360"/>
                  <a:pt x="4764" y="7193"/>
                </a:cubicBezTo>
                <a:lnTo>
                  <a:pt x="4764" y="7002"/>
                </a:lnTo>
                <a:close/>
                <a:moveTo>
                  <a:pt x="6073" y="7002"/>
                </a:moveTo>
                <a:lnTo>
                  <a:pt x="6169" y="8241"/>
                </a:lnTo>
                <a:lnTo>
                  <a:pt x="3954" y="8241"/>
                </a:lnTo>
                <a:lnTo>
                  <a:pt x="4049" y="7002"/>
                </a:lnTo>
                <a:lnTo>
                  <a:pt x="4478" y="7002"/>
                </a:lnTo>
                <a:lnTo>
                  <a:pt x="4478" y="7193"/>
                </a:lnTo>
                <a:cubicBezTo>
                  <a:pt x="4478" y="7526"/>
                  <a:pt x="4740" y="7788"/>
                  <a:pt x="5049" y="7788"/>
                </a:cubicBezTo>
                <a:cubicBezTo>
                  <a:pt x="5383" y="7788"/>
                  <a:pt x="5645" y="7526"/>
                  <a:pt x="5645" y="7193"/>
                </a:cubicBezTo>
                <a:lnTo>
                  <a:pt x="5645" y="7002"/>
                </a:lnTo>
                <a:close/>
                <a:moveTo>
                  <a:pt x="6859" y="8526"/>
                </a:moveTo>
                <a:cubicBezTo>
                  <a:pt x="6883" y="8526"/>
                  <a:pt x="6907" y="8550"/>
                  <a:pt x="6907" y="8574"/>
                </a:cubicBezTo>
                <a:lnTo>
                  <a:pt x="6907" y="8955"/>
                </a:lnTo>
                <a:cubicBezTo>
                  <a:pt x="6907" y="8979"/>
                  <a:pt x="6883" y="9003"/>
                  <a:pt x="6859" y="9003"/>
                </a:cubicBezTo>
                <a:lnTo>
                  <a:pt x="3263" y="9003"/>
                </a:lnTo>
                <a:cubicBezTo>
                  <a:pt x="3240" y="9003"/>
                  <a:pt x="3216" y="8979"/>
                  <a:pt x="3216" y="8955"/>
                </a:cubicBezTo>
                <a:lnTo>
                  <a:pt x="3216" y="8574"/>
                </a:lnTo>
                <a:cubicBezTo>
                  <a:pt x="3216" y="8550"/>
                  <a:pt x="3240" y="8526"/>
                  <a:pt x="3263" y="8526"/>
                </a:cubicBezTo>
                <a:close/>
                <a:moveTo>
                  <a:pt x="549" y="1"/>
                </a:moveTo>
                <a:cubicBezTo>
                  <a:pt x="239" y="1"/>
                  <a:pt x="1" y="239"/>
                  <a:pt x="1" y="549"/>
                </a:cubicBezTo>
                <a:lnTo>
                  <a:pt x="1" y="1477"/>
                </a:lnTo>
                <a:cubicBezTo>
                  <a:pt x="1" y="1573"/>
                  <a:pt x="72" y="1644"/>
                  <a:pt x="144" y="1644"/>
                </a:cubicBezTo>
                <a:cubicBezTo>
                  <a:pt x="215" y="1644"/>
                  <a:pt x="287" y="1573"/>
                  <a:pt x="287" y="1477"/>
                </a:cubicBezTo>
                <a:lnTo>
                  <a:pt x="287" y="549"/>
                </a:lnTo>
                <a:cubicBezTo>
                  <a:pt x="287" y="406"/>
                  <a:pt x="406" y="310"/>
                  <a:pt x="549" y="310"/>
                </a:cubicBezTo>
                <a:lnTo>
                  <a:pt x="5907" y="310"/>
                </a:lnTo>
                <a:lnTo>
                  <a:pt x="5907" y="5669"/>
                </a:lnTo>
                <a:lnTo>
                  <a:pt x="287" y="5669"/>
                </a:lnTo>
                <a:lnTo>
                  <a:pt x="287" y="2144"/>
                </a:lnTo>
                <a:cubicBezTo>
                  <a:pt x="287" y="2049"/>
                  <a:pt x="239" y="2001"/>
                  <a:pt x="144" y="2001"/>
                </a:cubicBezTo>
                <a:cubicBezTo>
                  <a:pt x="72" y="2001"/>
                  <a:pt x="1" y="2049"/>
                  <a:pt x="1" y="2144"/>
                </a:cubicBezTo>
                <a:lnTo>
                  <a:pt x="1" y="6455"/>
                </a:lnTo>
                <a:cubicBezTo>
                  <a:pt x="1" y="6764"/>
                  <a:pt x="239" y="7002"/>
                  <a:pt x="549" y="7002"/>
                </a:cubicBezTo>
                <a:lnTo>
                  <a:pt x="3763" y="7002"/>
                </a:lnTo>
                <a:lnTo>
                  <a:pt x="3644" y="8241"/>
                </a:lnTo>
                <a:lnTo>
                  <a:pt x="3263" y="8241"/>
                </a:lnTo>
                <a:cubicBezTo>
                  <a:pt x="3073" y="8241"/>
                  <a:pt x="2930" y="8384"/>
                  <a:pt x="2930" y="8574"/>
                </a:cubicBezTo>
                <a:lnTo>
                  <a:pt x="2930" y="8955"/>
                </a:lnTo>
                <a:cubicBezTo>
                  <a:pt x="2930" y="9146"/>
                  <a:pt x="3073" y="9288"/>
                  <a:pt x="3263" y="9288"/>
                </a:cubicBezTo>
                <a:lnTo>
                  <a:pt x="6859" y="9288"/>
                </a:lnTo>
                <a:cubicBezTo>
                  <a:pt x="7050" y="9288"/>
                  <a:pt x="7193" y="9146"/>
                  <a:pt x="7193" y="8955"/>
                </a:cubicBezTo>
                <a:lnTo>
                  <a:pt x="7193" y="8574"/>
                </a:lnTo>
                <a:cubicBezTo>
                  <a:pt x="7193" y="8384"/>
                  <a:pt x="7050" y="8241"/>
                  <a:pt x="6859" y="8241"/>
                </a:cubicBezTo>
                <a:lnTo>
                  <a:pt x="6478" y="8241"/>
                </a:lnTo>
                <a:lnTo>
                  <a:pt x="6359" y="7002"/>
                </a:lnTo>
                <a:lnTo>
                  <a:pt x="9574" y="7002"/>
                </a:lnTo>
                <a:cubicBezTo>
                  <a:pt x="9860" y="7002"/>
                  <a:pt x="10122" y="6764"/>
                  <a:pt x="10122" y="6455"/>
                </a:cubicBezTo>
                <a:lnTo>
                  <a:pt x="10122" y="549"/>
                </a:lnTo>
                <a:cubicBezTo>
                  <a:pt x="10122" y="239"/>
                  <a:pt x="9884" y="1"/>
                  <a:pt x="9574" y="1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2831;p94">
            <a:extLst xmlns:a="http://schemas.openxmlformats.org/drawingml/2006/main">
              <a:ext uri="{FF2B5EF4-FFF2-40B4-BE49-F238E27FC236}">
                <a16:creationId xmlns:a16="http://schemas.microsoft.com/office/drawing/2014/main" id="{F900805D-4E08-4F39-9B21-1E630704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88385"/>
            <a:ext cx="311114" cy="244088"/>
          </a:xfrm>
          <a:custGeom xmlns:a="http://schemas.openxmlformats.org/drawingml/2006/main">
            <a:rect l="l" t="t" r="r" b="b"/>
            <a:pathLst>
              <a:path w="4264" h="3296">
                <a:moveTo>
                  <a:pt x="3897" y="0"/>
                </a:moveTo>
                <a:cubicBezTo>
                  <a:pt x="3848" y="0"/>
                  <a:pt x="3805" y="22"/>
                  <a:pt x="3787" y="57"/>
                </a:cubicBezTo>
                <a:lnTo>
                  <a:pt x="2835" y="1176"/>
                </a:lnTo>
                <a:lnTo>
                  <a:pt x="2596" y="986"/>
                </a:lnTo>
                <a:cubicBezTo>
                  <a:pt x="2573" y="962"/>
                  <a:pt x="2537" y="950"/>
                  <a:pt x="2501" y="950"/>
                </a:cubicBezTo>
                <a:cubicBezTo>
                  <a:pt x="2465" y="950"/>
                  <a:pt x="2430" y="962"/>
                  <a:pt x="2406" y="986"/>
                </a:cubicBezTo>
                <a:lnTo>
                  <a:pt x="1811" y="1629"/>
                </a:lnTo>
                <a:lnTo>
                  <a:pt x="1096" y="1367"/>
                </a:lnTo>
                <a:cubicBezTo>
                  <a:pt x="1084" y="1355"/>
                  <a:pt x="1066" y="1349"/>
                  <a:pt x="1045" y="1349"/>
                </a:cubicBezTo>
                <a:cubicBezTo>
                  <a:pt x="1025" y="1349"/>
                  <a:pt x="1001" y="1355"/>
                  <a:pt x="977" y="1367"/>
                </a:cubicBezTo>
                <a:lnTo>
                  <a:pt x="286" y="1772"/>
                </a:lnTo>
                <a:lnTo>
                  <a:pt x="286" y="462"/>
                </a:lnTo>
                <a:cubicBezTo>
                  <a:pt x="286" y="391"/>
                  <a:pt x="239" y="319"/>
                  <a:pt x="144" y="319"/>
                </a:cubicBezTo>
                <a:cubicBezTo>
                  <a:pt x="72" y="319"/>
                  <a:pt x="1" y="391"/>
                  <a:pt x="1" y="462"/>
                </a:cubicBezTo>
                <a:lnTo>
                  <a:pt x="1" y="3153"/>
                </a:lnTo>
                <a:cubicBezTo>
                  <a:pt x="1" y="3225"/>
                  <a:pt x="72" y="3296"/>
                  <a:pt x="144" y="3296"/>
                </a:cubicBezTo>
                <a:lnTo>
                  <a:pt x="4121" y="3296"/>
                </a:lnTo>
                <a:cubicBezTo>
                  <a:pt x="4192" y="3296"/>
                  <a:pt x="4263" y="3225"/>
                  <a:pt x="4263" y="3153"/>
                </a:cubicBezTo>
                <a:cubicBezTo>
                  <a:pt x="4263" y="3082"/>
                  <a:pt x="4216" y="3010"/>
                  <a:pt x="4121" y="3010"/>
                </a:cubicBezTo>
                <a:lnTo>
                  <a:pt x="4049" y="3010"/>
                </a:lnTo>
                <a:lnTo>
                  <a:pt x="4049" y="2200"/>
                </a:lnTo>
                <a:cubicBezTo>
                  <a:pt x="4049" y="2105"/>
                  <a:pt x="3978" y="2034"/>
                  <a:pt x="3906" y="2034"/>
                </a:cubicBezTo>
                <a:cubicBezTo>
                  <a:pt x="3811" y="2034"/>
                  <a:pt x="3739" y="2105"/>
                  <a:pt x="3739" y="2200"/>
                </a:cubicBezTo>
                <a:lnTo>
                  <a:pt x="3739" y="3010"/>
                </a:lnTo>
                <a:lnTo>
                  <a:pt x="3382" y="3010"/>
                </a:lnTo>
                <a:lnTo>
                  <a:pt x="3382" y="2891"/>
                </a:lnTo>
                <a:cubicBezTo>
                  <a:pt x="3382" y="2820"/>
                  <a:pt x="3311" y="2748"/>
                  <a:pt x="3239" y="2748"/>
                </a:cubicBezTo>
                <a:cubicBezTo>
                  <a:pt x="3144" y="2748"/>
                  <a:pt x="3073" y="2796"/>
                  <a:pt x="3073" y="2891"/>
                </a:cubicBezTo>
                <a:lnTo>
                  <a:pt x="3073" y="3010"/>
                </a:lnTo>
                <a:lnTo>
                  <a:pt x="2573" y="3010"/>
                </a:lnTo>
                <a:lnTo>
                  <a:pt x="2573" y="2891"/>
                </a:lnTo>
                <a:cubicBezTo>
                  <a:pt x="2573" y="2820"/>
                  <a:pt x="2525" y="2748"/>
                  <a:pt x="2430" y="2748"/>
                </a:cubicBezTo>
                <a:cubicBezTo>
                  <a:pt x="2358" y="2748"/>
                  <a:pt x="2287" y="2796"/>
                  <a:pt x="2287" y="2891"/>
                </a:cubicBezTo>
                <a:lnTo>
                  <a:pt x="2287" y="3010"/>
                </a:lnTo>
                <a:lnTo>
                  <a:pt x="1787" y="3010"/>
                </a:lnTo>
                <a:lnTo>
                  <a:pt x="1787" y="2891"/>
                </a:lnTo>
                <a:cubicBezTo>
                  <a:pt x="1787" y="2820"/>
                  <a:pt x="1715" y="2748"/>
                  <a:pt x="1644" y="2748"/>
                </a:cubicBezTo>
                <a:cubicBezTo>
                  <a:pt x="1549" y="2748"/>
                  <a:pt x="1501" y="2796"/>
                  <a:pt x="1501" y="2891"/>
                </a:cubicBezTo>
                <a:lnTo>
                  <a:pt x="1501" y="3010"/>
                </a:lnTo>
                <a:lnTo>
                  <a:pt x="1001" y="3010"/>
                </a:lnTo>
                <a:lnTo>
                  <a:pt x="1001" y="2891"/>
                </a:lnTo>
                <a:cubicBezTo>
                  <a:pt x="1001" y="2820"/>
                  <a:pt x="929" y="2748"/>
                  <a:pt x="834" y="2748"/>
                </a:cubicBezTo>
                <a:cubicBezTo>
                  <a:pt x="763" y="2748"/>
                  <a:pt x="691" y="2796"/>
                  <a:pt x="691" y="2891"/>
                </a:cubicBezTo>
                <a:lnTo>
                  <a:pt x="691" y="3010"/>
                </a:lnTo>
                <a:lnTo>
                  <a:pt x="286" y="3010"/>
                </a:lnTo>
                <a:lnTo>
                  <a:pt x="286" y="2105"/>
                </a:lnTo>
                <a:lnTo>
                  <a:pt x="1048" y="1653"/>
                </a:lnTo>
                <a:lnTo>
                  <a:pt x="1811" y="1962"/>
                </a:lnTo>
                <a:cubicBezTo>
                  <a:pt x="1823" y="1969"/>
                  <a:pt x="1838" y="1972"/>
                  <a:pt x="1853" y="1972"/>
                </a:cubicBezTo>
                <a:cubicBezTo>
                  <a:pt x="1893" y="1972"/>
                  <a:pt x="1936" y="1950"/>
                  <a:pt x="1953" y="1915"/>
                </a:cubicBezTo>
                <a:lnTo>
                  <a:pt x="2525" y="1296"/>
                </a:lnTo>
                <a:lnTo>
                  <a:pt x="2763" y="1486"/>
                </a:lnTo>
                <a:cubicBezTo>
                  <a:pt x="2795" y="1518"/>
                  <a:pt x="2828" y="1531"/>
                  <a:pt x="2860" y="1531"/>
                </a:cubicBezTo>
                <a:cubicBezTo>
                  <a:pt x="2899" y="1531"/>
                  <a:pt x="2938" y="1512"/>
                  <a:pt x="2977" y="1486"/>
                </a:cubicBezTo>
                <a:lnTo>
                  <a:pt x="3739" y="557"/>
                </a:lnTo>
                <a:lnTo>
                  <a:pt x="3739" y="1534"/>
                </a:lnTo>
                <a:cubicBezTo>
                  <a:pt x="3739" y="1629"/>
                  <a:pt x="3811" y="1677"/>
                  <a:pt x="3882" y="1677"/>
                </a:cubicBezTo>
                <a:cubicBezTo>
                  <a:pt x="3978" y="1677"/>
                  <a:pt x="4049" y="1629"/>
                  <a:pt x="4049" y="1534"/>
                </a:cubicBezTo>
                <a:lnTo>
                  <a:pt x="4049" y="152"/>
                </a:lnTo>
                <a:cubicBezTo>
                  <a:pt x="4049" y="81"/>
                  <a:pt x="4001" y="33"/>
                  <a:pt x="3954" y="10"/>
                </a:cubicBezTo>
                <a:cubicBezTo>
                  <a:pt x="3935" y="3"/>
                  <a:pt x="3916" y="0"/>
                  <a:pt x="389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2832;p94">
            <a:extLst xmlns:a="http://schemas.openxmlformats.org/drawingml/2006/main">
              <a:ext uri="{FF2B5EF4-FFF2-40B4-BE49-F238E27FC236}">
                <a16:creationId xmlns:a16="http://schemas.microsoft.com/office/drawing/2014/main" id="{401D0911-2BA2-4AAE-9BC6-4A73B4BB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586" y="1938446"/>
            <a:ext cx="20941" cy="30065"/>
          </a:xfrm>
          <a:custGeom xmlns:a="http://schemas.openxmlformats.org/drawingml/2006/main">
            <a:rect l="l" t="t" r="r" b="b"/>
            <a:pathLst>
              <a:path w="287" h="406">
                <a:moveTo>
                  <a:pt x="143" y="0"/>
                </a:moveTo>
                <a:cubicBezTo>
                  <a:pt x="72" y="0"/>
                  <a:pt x="1" y="72"/>
                  <a:pt x="1" y="167"/>
                </a:cubicBezTo>
                <a:lnTo>
                  <a:pt x="1" y="262"/>
                </a:lnTo>
                <a:cubicBezTo>
                  <a:pt x="1" y="358"/>
                  <a:pt x="72" y="405"/>
                  <a:pt x="143" y="405"/>
                </a:cubicBezTo>
                <a:cubicBezTo>
                  <a:pt x="239" y="405"/>
                  <a:pt x="286" y="358"/>
                  <a:pt x="286" y="262"/>
                </a:cubicBezTo>
                <a:lnTo>
                  <a:pt x="286" y="167"/>
                </a:lnTo>
                <a:cubicBezTo>
                  <a:pt x="286" y="72"/>
                  <a:pt x="239" y="0"/>
                  <a:pt x="143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2833;p94">
            <a:extLst xmlns:a="http://schemas.openxmlformats.org/drawingml/2006/main">
              <a:ext uri="{FF2B5EF4-FFF2-40B4-BE49-F238E27FC236}">
                <a16:creationId xmlns:a16="http://schemas.microsoft.com/office/drawing/2014/main" id="{208652E0-2F55-470A-813B-7ECDF795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7601" y="1908454"/>
            <a:ext cx="22617" cy="30065"/>
          </a:xfrm>
          <a:custGeom xmlns:a="http://schemas.openxmlformats.org/drawingml/2006/main">
            <a:rect l="l" t="t" r="r" b="b"/>
            <a:pathLst>
              <a:path w="310" h="406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lnTo>
                  <a:pt x="0" y="262"/>
                </a:lnTo>
                <a:cubicBezTo>
                  <a:pt x="0" y="334"/>
                  <a:pt x="72" y="405"/>
                  <a:pt x="143" y="405"/>
                </a:cubicBezTo>
                <a:cubicBezTo>
                  <a:pt x="238" y="405"/>
                  <a:pt x="310" y="334"/>
                  <a:pt x="310" y="262"/>
                </a:cubicBezTo>
                <a:lnTo>
                  <a:pt x="310" y="143"/>
                </a:lnTo>
                <a:cubicBezTo>
                  <a:pt x="310" y="72"/>
                  <a:pt x="238" y="1"/>
                  <a:pt x="143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" name="Google Shape;2834;p94">
            <a:extLst xmlns:a="http://schemas.openxmlformats.org/drawingml/2006/main">
              <a:ext uri="{FF2B5EF4-FFF2-40B4-BE49-F238E27FC236}">
                <a16:creationId xmlns:a16="http://schemas.microsoft.com/office/drawing/2014/main" id="{4C88E721-9213-4CC6-80B7-9526CCE2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8363" y="1843211"/>
            <a:ext cx="22691" cy="30065"/>
          </a:xfrm>
          <a:custGeom xmlns:a="http://schemas.openxmlformats.org/drawingml/2006/main">
            <a:rect l="l" t="t" r="r" b="b"/>
            <a:pathLst>
              <a:path w="311" h="406">
                <a:moveTo>
                  <a:pt x="167" y="0"/>
                </a:moveTo>
                <a:cubicBezTo>
                  <a:pt x="72" y="0"/>
                  <a:pt x="0" y="48"/>
                  <a:pt x="0" y="143"/>
                </a:cubicBezTo>
                <a:lnTo>
                  <a:pt x="0" y="239"/>
                </a:lnTo>
                <a:cubicBezTo>
                  <a:pt x="0" y="334"/>
                  <a:pt x="72" y="405"/>
                  <a:pt x="167" y="405"/>
                </a:cubicBezTo>
                <a:cubicBezTo>
                  <a:pt x="239" y="405"/>
                  <a:pt x="310" y="334"/>
                  <a:pt x="310" y="239"/>
                </a:cubicBezTo>
                <a:lnTo>
                  <a:pt x="310" y="143"/>
                </a:lnTo>
                <a:cubicBezTo>
                  <a:pt x="310" y="48"/>
                  <a:pt x="239" y="0"/>
                  <a:pt x="16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" name="Google Shape;2835;p94">
            <a:extLst xmlns:a="http://schemas.openxmlformats.org/drawingml/2006/main">
              <a:ext uri="{FF2B5EF4-FFF2-40B4-BE49-F238E27FC236}">
                <a16:creationId xmlns:a16="http://schemas.microsoft.com/office/drawing/2014/main" id="{B9AB48DF-BCDD-4866-A6F0-247A6590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11440"/>
            <a:ext cx="59172" cy="21254"/>
          </a:xfrm>
          <a:custGeom xmlns:a="http://schemas.openxmlformats.org/drawingml/2006/main">
            <a:rect l="l" t="t" r="r" b="b"/>
            <a:pathLst>
              <a:path w="811" h="287">
                <a:moveTo>
                  <a:pt x="144" y="1"/>
                </a:moveTo>
                <a:cubicBezTo>
                  <a:pt x="72" y="1"/>
                  <a:pt x="1" y="72"/>
                  <a:pt x="1" y="144"/>
                </a:cubicBezTo>
                <a:cubicBezTo>
                  <a:pt x="1" y="239"/>
                  <a:pt x="72" y="287"/>
                  <a:pt x="144" y="287"/>
                </a:cubicBezTo>
                <a:lnTo>
                  <a:pt x="667" y="287"/>
                </a:lnTo>
                <a:cubicBezTo>
                  <a:pt x="739" y="287"/>
                  <a:pt x="810" y="239"/>
                  <a:pt x="810" y="144"/>
                </a:cubicBezTo>
                <a:cubicBezTo>
                  <a:pt x="810" y="72"/>
                  <a:pt x="739" y="1"/>
                  <a:pt x="66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" name="Google Shape;2836;p94">
            <a:extLst xmlns:a="http://schemas.openxmlformats.org/drawingml/2006/main">
              <a:ext uri="{FF2B5EF4-FFF2-40B4-BE49-F238E27FC236}">
                <a16:creationId xmlns:a16="http://schemas.microsoft.com/office/drawing/2014/main" id="{7DD52DFD-8678-4E26-8969-07B95AB1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52022"/>
            <a:ext cx="102586" cy="23030"/>
          </a:xfrm>
          <a:custGeom xmlns:a="http://schemas.openxmlformats.org/drawingml/2006/main">
            <a:rect l="l" t="t" r="r" b="b"/>
            <a:pathLst>
              <a:path w="1406" h="311">
                <a:moveTo>
                  <a:pt x="144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9"/>
                  <a:pt x="72" y="310"/>
                  <a:pt x="144" y="310"/>
                </a:cubicBezTo>
                <a:lnTo>
                  <a:pt x="1239" y="310"/>
                </a:lnTo>
                <a:cubicBezTo>
                  <a:pt x="1334" y="310"/>
                  <a:pt x="1406" y="239"/>
                  <a:pt x="1406" y="143"/>
                </a:cubicBezTo>
                <a:cubicBezTo>
                  <a:pt x="1406" y="72"/>
                  <a:pt x="1334" y="0"/>
                  <a:pt x="1239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2837;p94">
            <a:extLst xmlns:a="http://schemas.openxmlformats.org/drawingml/2006/main">
              <a:ext uri="{FF2B5EF4-FFF2-40B4-BE49-F238E27FC236}">
                <a16:creationId xmlns:a16="http://schemas.microsoft.com/office/drawing/2014/main" id="{11B7BD30-BD0F-4877-84AE-D31D2521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51638" y="1846765"/>
            <a:ext cx="67855" cy="116416"/>
          </a:xfrm>
          <a:custGeom xmlns:a="http://schemas.openxmlformats.org/drawingml/2006/main">
            <a:rect l="l" t="t" r="r" b="b"/>
            <a:pathLst>
              <a:path w="930" h="1572">
                <a:moveTo>
                  <a:pt x="453" y="0"/>
                </a:moveTo>
                <a:cubicBezTo>
                  <a:pt x="382" y="0"/>
                  <a:pt x="310" y="48"/>
                  <a:pt x="310" y="143"/>
                </a:cubicBezTo>
                <a:lnTo>
                  <a:pt x="310" y="167"/>
                </a:lnTo>
                <a:cubicBezTo>
                  <a:pt x="144" y="214"/>
                  <a:pt x="1" y="357"/>
                  <a:pt x="1" y="548"/>
                </a:cubicBezTo>
                <a:cubicBezTo>
                  <a:pt x="1" y="762"/>
                  <a:pt x="167" y="929"/>
                  <a:pt x="382" y="929"/>
                </a:cubicBezTo>
                <a:lnTo>
                  <a:pt x="525" y="929"/>
                </a:lnTo>
                <a:cubicBezTo>
                  <a:pt x="572" y="929"/>
                  <a:pt x="620" y="976"/>
                  <a:pt x="620" y="1024"/>
                </a:cubicBezTo>
                <a:cubicBezTo>
                  <a:pt x="620" y="1072"/>
                  <a:pt x="572" y="1119"/>
                  <a:pt x="525" y="1119"/>
                </a:cubicBezTo>
                <a:lnTo>
                  <a:pt x="382" y="1119"/>
                </a:lnTo>
                <a:cubicBezTo>
                  <a:pt x="358" y="1119"/>
                  <a:pt x="310" y="1095"/>
                  <a:pt x="310" y="1048"/>
                </a:cubicBezTo>
                <a:cubicBezTo>
                  <a:pt x="293" y="994"/>
                  <a:pt x="234" y="967"/>
                  <a:pt x="176" y="967"/>
                </a:cubicBezTo>
                <a:cubicBezTo>
                  <a:pt x="157" y="967"/>
                  <a:pt x="138" y="970"/>
                  <a:pt x="120" y="976"/>
                </a:cubicBezTo>
                <a:cubicBezTo>
                  <a:pt x="48" y="1024"/>
                  <a:pt x="1" y="1095"/>
                  <a:pt x="48" y="1167"/>
                </a:cubicBezTo>
                <a:cubicBezTo>
                  <a:pt x="96" y="1286"/>
                  <a:pt x="191" y="1381"/>
                  <a:pt x="310" y="1405"/>
                </a:cubicBezTo>
                <a:cubicBezTo>
                  <a:pt x="310" y="1500"/>
                  <a:pt x="382" y="1572"/>
                  <a:pt x="453" y="1572"/>
                </a:cubicBezTo>
                <a:cubicBezTo>
                  <a:pt x="549" y="1572"/>
                  <a:pt x="620" y="1500"/>
                  <a:pt x="620" y="1405"/>
                </a:cubicBezTo>
                <a:cubicBezTo>
                  <a:pt x="787" y="1357"/>
                  <a:pt x="930" y="1215"/>
                  <a:pt x="930" y="1024"/>
                </a:cubicBezTo>
                <a:cubicBezTo>
                  <a:pt x="930" y="810"/>
                  <a:pt x="739" y="643"/>
                  <a:pt x="525" y="643"/>
                </a:cubicBezTo>
                <a:lnTo>
                  <a:pt x="382" y="643"/>
                </a:lnTo>
                <a:cubicBezTo>
                  <a:pt x="334" y="643"/>
                  <a:pt x="310" y="595"/>
                  <a:pt x="310" y="548"/>
                </a:cubicBezTo>
                <a:cubicBezTo>
                  <a:pt x="310" y="500"/>
                  <a:pt x="334" y="453"/>
                  <a:pt x="382" y="453"/>
                </a:cubicBezTo>
                <a:lnTo>
                  <a:pt x="525" y="453"/>
                </a:lnTo>
                <a:cubicBezTo>
                  <a:pt x="572" y="453"/>
                  <a:pt x="596" y="476"/>
                  <a:pt x="620" y="500"/>
                </a:cubicBezTo>
                <a:cubicBezTo>
                  <a:pt x="635" y="546"/>
                  <a:pt x="681" y="573"/>
                  <a:pt x="730" y="573"/>
                </a:cubicBezTo>
                <a:cubicBezTo>
                  <a:pt x="757" y="573"/>
                  <a:pt x="785" y="565"/>
                  <a:pt x="810" y="548"/>
                </a:cubicBezTo>
                <a:cubicBezTo>
                  <a:pt x="882" y="500"/>
                  <a:pt x="906" y="405"/>
                  <a:pt x="858" y="333"/>
                </a:cubicBezTo>
                <a:cubicBezTo>
                  <a:pt x="787" y="238"/>
                  <a:pt x="715" y="191"/>
                  <a:pt x="620" y="167"/>
                </a:cubicBezTo>
                <a:lnTo>
                  <a:pt x="620" y="143"/>
                </a:lnTo>
                <a:cubicBezTo>
                  <a:pt x="620" y="48"/>
                  <a:pt x="549" y="0"/>
                  <a:pt x="453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2838;p94">
            <a:extLst xmlns:a="http://schemas.openxmlformats.org/drawingml/2006/main">
              <a:ext uri="{FF2B5EF4-FFF2-40B4-BE49-F238E27FC236}">
                <a16:creationId xmlns:a16="http://schemas.microsoft.com/office/drawing/2014/main" id="{13C431EE-CE24-467F-BC8E-A0645481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4289" y="1811440"/>
            <a:ext cx="182552" cy="185289"/>
          </a:xfrm>
          <a:custGeom xmlns:a="http://schemas.openxmlformats.org/drawingml/2006/main">
            <a:rect l="l" t="t" r="r" b="b"/>
            <a:pathLst>
              <a:path w="2502" h="2502">
                <a:moveTo>
                  <a:pt x="1239" y="287"/>
                </a:moveTo>
                <a:cubicBezTo>
                  <a:pt x="1763" y="287"/>
                  <a:pt x="2216" y="715"/>
                  <a:pt x="2216" y="1263"/>
                </a:cubicBezTo>
                <a:cubicBezTo>
                  <a:pt x="2216" y="1787"/>
                  <a:pt x="1787" y="2215"/>
                  <a:pt x="1239" y="2215"/>
                </a:cubicBezTo>
                <a:cubicBezTo>
                  <a:pt x="715" y="2215"/>
                  <a:pt x="287" y="1787"/>
                  <a:pt x="287" y="1263"/>
                </a:cubicBezTo>
                <a:cubicBezTo>
                  <a:pt x="287" y="715"/>
                  <a:pt x="715" y="287"/>
                  <a:pt x="1239" y="287"/>
                </a:cubicBezTo>
                <a:close/>
                <a:moveTo>
                  <a:pt x="1239" y="1"/>
                </a:moveTo>
                <a:cubicBezTo>
                  <a:pt x="549" y="1"/>
                  <a:pt x="1" y="548"/>
                  <a:pt x="1" y="1239"/>
                </a:cubicBezTo>
                <a:cubicBezTo>
                  <a:pt x="1" y="1954"/>
                  <a:pt x="549" y="2501"/>
                  <a:pt x="1239" y="2501"/>
                </a:cubicBezTo>
                <a:cubicBezTo>
                  <a:pt x="1930" y="2501"/>
                  <a:pt x="2501" y="1954"/>
                  <a:pt x="2501" y="1239"/>
                </a:cubicBezTo>
                <a:cubicBezTo>
                  <a:pt x="2501" y="572"/>
                  <a:pt x="1930" y="1"/>
                  <a:pt x="1239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2839;p94">
            <a:extLst xmlns:a="http://schemas.openxmlformats.org/drawingml/2006/main">
              <a:ext uri="{FF2B5EF4-FFF2-40B4-BE49-F238E27FC236}">
                <a16:creationId xmlns:a16="http://schemas.microsoft.com/office/drawing/2014/main" id="{8785FF6F-9A87-4654-ADF6-C274BB26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7" y="2023092"/>
            <a:ext cx="99157" cy="23030"/>
          </a:xfrm>
          <a:custGeom xmlns:a="http://schemas.openxmlformats.org/drawingml/2006/main">
            <a:rect l="l" t="t" r="r" b="b"/>
            <a:pathLst>
              <a:path w="1359" h="311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1215" y="310"/>
                </a:lnTo>
                <a:cubicBezTo>
                  <a:pt x="1287" y="310"/>
                  <a:pt x="1358" y="239"/>
                  <a:pt x="1358" y="143"/>
                </a:cubicBezTo>
                <a:cubicBezTo>
                  <a:pt x="1358" y="72"/>
                  <a:pt x="1311" y="0"/>
                  <a:pt x="1215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2840;p94">
            <a:extLst xmlns:a="http://schemas.openxmlformats.org/drawingml/2006/main">
              <a:ext uri="{FF2B5EF4-FFF2-40B4-BE49-F238E27FC236}">
                <a16:creationId xmlns:a16="http://schemas.microsoft.com/office/drawing/2014/main" id="{086AB61D-87BE-4B2D-A387-BA2B2454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19422" y="2067156"/>
            <a:ext cx="55670" cy="21254"/>
          </a:xfrm>
          <a:custGeom xmlns:a="http://schemas.openxmlformats.org/drawingml/2006/main">
            <a:rect l="l" t="t" r="r" b="b"/>
            <a:pathLst>
              <a:path w="763" h="287">
                <a:moveTo>
                  <a:pt x="143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3" y="287"/>
                </a:cubicBezTo>
                <a:lnTo>
                  <a:pt x="596" y="287"/>
                </a:lnTo>
                <a:cubicBezTo>
                  <a:pt x="691" y="287"/>
                  <a:pt x="763" y="215"/>
                  <a:pt x="763" y="144"/>
                </a:cubicBezTo>
                <a:cubicBezTo>
                  <a:pt x="763" y="72"/>
                  <a:pt x="691" y="1"/>
                  <a:pt x="596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2841;p94">
            <a:extLst xmlns:a="http://schemas.openxmlformats.org/drawingml/2006/main">
              <a:ext uri="{FF2B5EF4-FFF2-40B4-BE49-F238E27FC236}">
                <a16:creationId xmlns:a16="http://schemas.microsoft.com/office/drawing/2014/main" id="{B332F68A-423C-4330-BF86-BCDDD1F1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7" y="2067156"/>
            <a:ext cx="62675" cy="21254"/>
          </a:xfrm>
          <a:custGeom xmlns:a="http://schemas.openxmlformats.org/drawingml/2006/main">
            <a:rect l="l" t="t" r="r" b="b"/>
            <a:pathLst>
              <a:path w="859" h="287">
                <a:moveTo>
                  <a:pt x="144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4" y="287"/>
                </a:cubicBezTo>
                <a:lnTo>
                  <a:pt x="715" y="287"/>
                </a:lnTo>
                <a:cubicBezTo>
                  <a:pt x="787" y="287"/>
                  <a:pt x="858" y="215"/>
                  <a:pt x="858" y="144"/>
                </a:cubicBezTo>
                <a:cubicBezTo>
                  <a:pt x="858" y="72"/>
                  <a:pt x="811" y="1"/>
                  <a:pt x="7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" name="Google Shape;2842;p94">
            <a:extLst xmlns:a="http://schemas.openxmlformats.org/drawingml/2006/main">
              <a:ext uri="{FF2B5EF4-FFF2-40B4-BE49-F238E27FC236}">
                <a16:creationId xmlns:a16="http://schemas.microsoft.com/office/drawing/2014/main" id="{655338CE-6E54-4097-B931-3BFF5A77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3823" y="2067156"/>
            <a:ext cx="41806" cy="21254"/>
          </a:xfrm>
          <a:custGeom xmlns:a="http://schemas.openxmlformats.org/drawingml/2006/main">
            <a:rect l="l" t="t" r="r" b="b"/>
            <a:pathLst>
              <a:path w="573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429" y="287"/>
                </a:lnTo>
                <a:cubicBezTo>
                  <a:pt x="501" y="287"/>
                  <a:pt x="572" y="215"/>
                  <a:pt x="572" y="144"/>
                </a:cubicBezTo>
                <a:cubicBezTo>
                  <a:pt x="572" y="72"/>
                  <a:pt x="501" y="1"/>
                  <a:pt x="429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" name="Google Shape;2843;p94">
            <a:extLst xmlns:a="http://schemas.openxmlformats.org/drawingml/2006/main">
              <a:ext uri="{FF2B5EF4-FFF2-40B4-BE49-F238E27FC236}">
                <a16:creationId xmlns:a16="http://schemas.microsoft.com/office/drawing/2014/main" id="{CC25936E-2FCD-43D7-98E2-9FDD2F0C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7" y="2109516"/>
            <a:ext cx="187734" cy="22957"/>
          </a:xfrm>
          <a:custGeom xmlns:a="http://schemas.openxmlformats.org/drawingml/2006/main">
            <a:rect l="l" t="t" r="r" b="b"/>
            <a:pathLst>
              <a:path w="2573" h="310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2430" y="310"/>
                </a:lnTo>
                <a:cubicBezTo>
                  <a:pt x="2525" y="310"/>
                  <a:pt x="2573" y="239"/>
                  <a:pt x="2573" y="143"/>
                </a:cubicBezTo>
                <a:cubicBezTo>
                  <a:pt x="2573" y="72"/>
                  <a:pt x="2525" y="0"/>
                  <a:pt x="2430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" name="Google Shape;2819;p94">
            <a:extLst xmlns:a="http://schemas.openxmlformats.org/drawingml/2006/main">
              <a:ext uri="{FF2B5EF4-FFF2-40B4-BE49-F238E27FC236}">
                <a16:creationId xmlns:a16="http://schemas.microsoft.com/office/drawing/2014/main" id="{CEEF5F3D-E71B-4FC7-990A-716794C9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0541" y="1913934"/>
            <a:ext cx="38305" cy="28808"/>
          </a:xfrm>
          <a:custGeom xmlns:a="http://schemas.openxmlformats.org/drawingml/2006/main">
            <a:rect l="l" t="t" r="r" b="b"/>
            <a:pathLst>
              <a:path w="525" h="389">
                <a:moveTo>
                  <a:pt x="348" y="1"/>
                </a:moveTo>
                <a:cubicBezTo>
                  <a:pt x="335" y="1"/>
                  <a:pt x="323" y="3"/>
                  <a:pt x="310" y="7"/>
                </a:cubicBezTo>
                <a:lnTo>
                  <a:pt x="96" y="102"/>
                </a:lnTo>
                <a:cubicBezTo>
                  <a:pt x="24" y="126"/>
                  <a:pt x="1" y="221"/>
                  <a:pt x="24" y="293"/>
                </a:cubicBezTo>
                <a:cubicBezTo>
                  <a:pt x="48" y="340"/>
                  <a:pt x="96" y="388"/>
                  <a:pt x="143" y="388"/>
                </a:cubicBezTo>
                <a:cubicBezTo>
                  <a:pt x="167" y="388"/>
                  <a:pt x="191" y="388"/>
                  <a:pt x="215" y="364"/>
                </a:cubicBezTo>
                <a:lnTo>
                  <a:pt x="405" y="293"/>
                </a:lnTo>
                <a:cubicBezTo>
                  <a:pt x="477" y="269"/>
                  <a:pt x="524" y="174"/>
                  <a:pt x="501" y="102"/>
                </a:cubicBezTo>
                <a:cubicBezTo>
                  <a:pt x="461" y="44"/>
                  <a:pt x="406" y="1"/>
                  <a:pt x="34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" name="Google Shape;2820;p94">
            <a:extLst xmlns:a="http://schemas.openxmlformats.org/drawingml/2006/main">
              <a:ext uri="{FF2B5EF4-FFF2-40B4-BE49-F238E27FC236}">
                <a16:creationId xmlns:a16="http://schemas.microsoft.com/office/drawing/2014/main" id="{CB1EEBE6-CF8F-44AE-810B-583FAE6C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7923" y="1873128"/>
            <a:ext cx="34876" cy="34287"/>
          </a:xfrm>
          <a:custGeom xmlns:a="http://schemas.openxmlformats.org/drawingml/2006/main">
            <a:rect l="l" t="t" r="r" b="b"/>
            <a:pathLst>
              <a:path w="478" h="463">
                <a:moveTo>
                  <a:pt x="298" y="1"/>
                </a:moveTo>
                <a:cubicBezTo>
                  <a:pt x="258" y="1"/>
                  <a:pt x="218" y="19"/>
                  <a:pt x="191" y="58"/>
                </a:cubicBezTo>
                <a:lnTo>
                  <a:pt x="49" y="225"/>
                </a:lnTo>
                <a:cubicBezTo>
                  <a:pt x="1" y="296"/>
                  <a:pt x="25" y="391"/>
                  <a:pt x="96" y="439"/>
                </a:cubicBezTo>
                <a:cubicBezTo>
                  <a:pt x="120" y="463"/>
                  <a:pt x="144" y="463"/>
                  <a:pt x="168" y="463"/>
                </a:cubicBezTo>
                <a:cubicBezTo>
                  <a:pt x="215" y="463"/>
                  <a:pt x="263" y="439"/>
                  <a:pt x="287" y="415"/>
                </a:cubicBezTo>
                <a:lnTo>
                  <a:pt x="430" y="225"/>
                </a:lnTo>
                <a:cubicBezTo>
                  <a:pt x="477" y="177"/>
                  <a:pt x="453" y="82"/>
                  <a:pt x="382" y="34"/>
                </a:cubicBezTo>
                <a:cubicBezTo>
                  <a:pt x="361" y="13"/>
                  <a:pt x="330" y="1"/>
                  <a:pt x="29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" name="Google Shape;2821;p94">
            <a:extLst xmlns:a="http://schemas.openxmlformats.org/drawingml/2006/main">
              <a:ext uri="{FF2B5EF4-FFF2-40B4-BE49-F238E27FC236}">
                <a16:creationId xmlns:a16="http://schemas.microsoft.com/office/drawing/2014/main" id="{DD98F42F-EAE0-43D2-A462-ACA25EC5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9223" y="1960292"/>
            <a:ext cx="38305" cy="24735"/>
          </a:xfrm>
          <a:custGeom xmlns:a="http://schemas.openxmlformats.org/drawingml/2006/main">
            <a:rect l="l" t="t" r="r" b="b"/>
            <a:pathLst>
              <a:path w="525" h="334">
                <a:moveTo>
                  <a:pt x="191" y="0"/>
                </a:moveTo>
                <a:cubicBezTo>
                  <a:pt x="96" y="0"/>
                  <a:pt x="24" y="48"/>
                  <a:pt x="24" y="119"/>
                </a:cubicBezTo>
                <a:cubicBezTo>
                  <a:pt x="1" y="215"/>
                  <a:pt x="48" y="286"/>
                  <a:pt x="143" y="286"/>
                </a:cubicBezTo>
                <a:lnTo>
                  <a:pt x="358" y="334"/>
                </a:lnTo>
                <a:lnTo>
                  <a:pt x="382" y="334"/>
                </a:lnTo>
                <a:cubicBezTo>
                  <a:pt x="453" y="334"/>
                  <a:pt x="501" y="286"/>
                  <a:pt x="525" y="215"/>
                </a:cubicBezTo>
                <a:cubicBezTo>
                  <a:pt x="525" y="119"/>
                  <a:pt x="477" y="48"/>
                  <a:pt x="405" y="48"/>
                </a:cubicBezTo>
                <a:lnTo>
                  <a:pt x="191" y="0"/>
                </a:ln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" name="Google Shape;2822;p94">
            <a:extLst xmlns:a="http://schemas.openxmlformats.org/drawingml/2006/main">
              <a:ext uri="{FF2B5EF4-FFF2-40B4-BE49-F238E27FC236}">
                <a16:creationId xmlns:a16="http://schemas.microsoft.com/office/drawing/2014/main" id="{22A8CF2C-ACD9-4CE7-A1F5-3B018BC2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0488" y="1722647"/>
            <a:ext cx="738530" cy="731528"/>
          </a:xfrm>
          <a:custGeom xmlns:a="http://schemas.openxmlformats.org/drawingml/2006/main">
            <a:rect l="l" t="t" r="r" b="b"/>
            <a:pathLst>
              <a:path w="10122" h="9878">
                <a:moveTo>
                  <a:pt x="4787" y="423"/>
                </a:moveTo>
                <a:lnTo>
                  <a:pt x="6168" y="994"/>
                </a:lnTo>
                <a:lnTo>
                  <a:pt x="5240" y="1376"/>
                </a:lnTo>
                <a:cubicBezTo>
                  <a:pt x="5233" y="1382"/>
                  <a:pt x="5226" y="1385"/>
                  <a:pt x="5219" y="1385"/>
                </a:cubicBezTo>
                <a:cubicBezTo>
                  <a:pt x="5202" y="1385"/>
                  <a:pt x="5185" y="1369"/>
                  <a:pt x="5168" y="1352"/>
                </a:cubicBezTo>
                <a:lnTo>
                  <a:pt x="4787" y="423"/>
                </a:lnTo>
                <a:close/>
                <a:moveTo>
                  <a:pt x="8216" y="2066"/>
                </a:moveTo>
                <a:cubicBezTo>
                  <a:pt x="8264" y="2066"/>
                  <a:pt x="8312" y="2090"/>
                  <a:pt x="8312" y="2138"/>
                </a:cubicBezTo>
                <a:lnTo>
                  <a:pt x="8312" y="2566"/>
                </a:lnTo>
                <a:cubicBezTo>
                  <a:pt x="8312" y="2614"/>
                  <a:pt x="8264" y="2661"/>
                  <a:pt x="8216" y="2661"/>
                </a:cubicBezTo>
                <a:lnTo>
                  <a:pt x="7407" y="2661"/>
                </a:lnTo>
                <a:lnTo>
                  <a:pt x="7168" y="2066"/>
                </a:lnTo>
                <a:close/>
                <a:moveTo>
                  <a:pt x="8788" y="1280"/>
                </a:moveTo>
                <a:cubicBezTo>
                  <a:pt x="8931" y="1280"/>
                  <a:pt x="9050" y="1399"/>
                  <a:pt x="9050" y="1542"/>
                </a:cubicBezTo>
                <a:lnTo>
                  <a:pt x="9050" y="3924"/>
                </a:lnTo>
                <a:lnTo>
                  <a:pt x="7954" y="3924"/>
                </a:lnTo>
                <a:lnTo>
                  <a:pt x="7550" y="2947"/>
                </a:lnTo>
                <a:lnTo>
                  <a:pt x="8216" y="2947"/>
                </a:lnTo>
                <a:cubicBezTo>
                  <a:pt x="8431" y="2947"/>
                  <a:pt x="8597" y="2781"/>
                  <a:pt x="8597" y="2566"/>
                </a:cubicBezTo>
                <a:lnTo>
                  <a:pt x="8597" y="2138"/>
                </a:lnTo>
                <a:cubicBezTo>
                  <a:pt x="8597" y="1923"/>
                  <a:pt x="8431" y="1757"/>
                  <a:pt x="8216" y="1757"/>
                </a:cubicBezTo>
                <a:lnTo>
                  <a:pt x="7049" y="1757"/>
                </a:lnTo>
                <a:lnTo>
                  <a:pt x="6835" y="1280"/>
                </a:lnTo>
                <a:close/>
                <a:moveTo>
                  <a:pt x="4430" y="352"/>
                </a:moveTo>
                <a:lnTo>
                  <a:pt x="4906" y="1471"/>
                </a:lnTo>
                <a:cubicBezTo>
                  <a:pt x="4954" y="1614"/>
                  <a:pt x="5073" y="1685"/>
                  <a:pt x="5216" y="1685"/>
                </a:cubicBezTo>
                <a:cubicBezTo>
                  <a:pt x="5263" y="1685"/>
                  <a:pt x="5311" y="1685"/>
                  <a:pt x="5359" y="1661"/>
                </a:cubicBezTo>
                <a:lnTo>
                  <a:pt x="6478" y="1185"/>
                </a:lnTo>
                <a:lnTo>
                  <a:pt x="7621" y="3947"/>
                </a:lnTo>
                <a:lnTo>
                  <a:pt x="6907" y="3947"/>
                </a:lnTo>
                <a:cubicBezTo>
                  <a:pt x="6835" y="3947"/>
                  <a:pt x="6764" y="3995"/>
                  <a:pt x="6764" y="4090"/>
                </a:cubicBezTo>
                <a:cubicBezTo>
                  <a:pt x="6764" y="4162"/>
                  <a:pt x="6835" y="4233"/>
                  <a:pt x="6907" y="4233"/>
                </a:cubicBezTo>
                <a:lnTo>
                  <a:pt x="9574" y="4233"/>
                </a:lnTo>
                <a:cubicBezTo>
                  <a:pt x="9717" y="4233"/>
                  <a:pt x="9812" y="4352"/>
                  <a:pt x="9812" y="4471"/>
                </a:cubicBezTo>
                <a:lnTo>
                  <a:pt x="9812" y="8972"/>
                </a:lnTo>
                <a:cubicBezTo>
                  <a:pt x="9812" y="9330"/>
                  <a:pt x="9550" y="9591"/>
                  <a:pt x="9193" y="9591"/>
                </a:cubicBezTo>
                <a:lnTo>
                  <a:pt x="1596" y="9591"/>
                </a:lnTo>
                <a:cubicBezTo>
                  <a:pt x="1739" y="9425"/>
                  <a:pt x="1834" y="9210"/>
                  <a:pt x="1834" y="8972"/>
                </a:cubicBezTo>
                <a:lnTo>
                  <a:pt x="1834" y="7353"/>
                </a:lnTo>
                <a:cubicBezTo>
                  <a:pt x="1834" y="7281"/>
                  <a:pt x="1763" y="7210"/>
                  <a:pt x="1667" y="7210"/>
                </a:cubicBezTo>
                <a:cubicBezTo>
                  <a:pt x="1596" y="7210"/>
                  <a:pt x="1524" y="7281"/>
                  <a:pt x="1524" y="7353"/>
                </a:cubicBezTo>
                <a:lnTo>
                  <a:pt x="1524" y="8972"/>
                </a:lnTo>
                <a:cubicBezTo>
                  <a:pt x="1524" y="9330"/>
                  <a:pt x="1262" y="9591"/>
                  <a:pt x="905" y="9591"/>
                </a:cubicBezTo>
                <a:cubicBezTo>
                  <a:pt x="572" y="9591"/>
                  <a:pt x="286" y="9330"/>
                  <a:pt x="286" y="8972"/>
                </a:cubicBezTo>
                <a:lnTo>
                  <a:pt x="286" y="2590"/>
                </a:lnTo>
                <a:cubicBezTo>
                  <a:pt x="286" y="2447"/>
                  <a:pt x="405" y="2328"/>
                  <a:pt x="548" y="2328"/>
                </a:cubicBezTo>
                <a:lnTo>
                  <a:pt x="834" y="2328"/>
                </a:lnTo>
                <a:lnTo>
                  <a:pt x="1120" y="3066"/>
                </a:lnTo>
                <a:cubicBezTo>
                  <a:pt x="1155" y="3120"/>
                  <a:pt x="1204" y="3147"/>
                  <a:pt x="1257" y="3147"/>
                </a:cubicBezTo>
                <a:cubicBezTo>
                  <a:pt x="1274" y="3147"/>
                  <a:pt x="1292" y="3144"/>
                  <a:pt x="1310" y="3138"/>
                </a:cubicBezTo>
                <a:cubicBezTo>
                  <a:pt x="1382" y="3114"/>
                  <a:pt x="1429" y="3019"/>
                  <a:pt x="1405" y="2947"/>
                </a:cubicBezTo>
                <a:lnTo>
                  <a:pt x="953" y="1876"/>
                </a:lnTo>
                <a:cubicBezTo>
                  <a:pt x="929" y="1852"/>
                  <a:pt x="953" y="1804"/>
                  <a:pt x="977" y="1804"/>
                </a:cubicBezTo>
                <a:lnTo>
                  <a:pt x="4430" y="352"/>
                </a:lnTo>
                <a:close/>
                <a:moveTo>
                  <a:pt x="4513" y="0"/>
                </a:moveTo>
                <a:cubicBezTo>
                  <a:pt x="4495" y="0"/>
                  <a:pt x="4477" y="6"/>
                  <a:pt x="4454" y="18"/>
                </a:cubicBezTo>
                <a:lnTo>
                  <a:pt x="858" y="1518"/>
                </a:lnTo>
                <a:cubicBezTo>
                  <a:pt x="691" y="1590"/>
                  <a:pt x="596" y="1804"/>
                  <a:pt x="667" y="1971"/>
                </a:cubicBezTo>
                <a:lnTo>
                  <a:pt x="691" y="2042"/>
                </a:lnTo>
                <a:lnTo>
                  <a:pt x="548" y="2042"/>
                </a:lnTo>
                <a:cubicBezTo>
                  <a:pt x="238" y="2042"/>
                  <a:pt x="0" y="2280"/>
                  <a:pt x="0" y="2590"/>
                </a:cubicBezTo>
                <a:lnTo>
                  <a:pt x="0" y="8972"/>
                </a:lnTo>
                <a:cubicBezTo>
                  <a:pt x="0" y="9472"/>
                  <a:pt x="405" y="9877"/>
                  <a:pt x="905" y="9877"/>
                </a:cubicBezTo>
                <a:lnTo>
                  <a:pt x="9193" y="9877"/>
                </a:lnTo>
                <a:cubicBezTo>
                  <a:pt x="9717" y="9877"/>
                  <a:pt x="10121" y="9472"/>
                  <a:pt x="10121" y="8972"/>
                </a:cubicBezTo>
                <a:lnTo>
                  <a:pt x="10121" y="4471"/>
                </a:lnTo>
                <a:cubicBezTo>
                  <a:pt x="10121" y="4162"/>
                  <a:pt x="9860" y="3924"/>
                  <a:pt x="9574" y="3924"/>
                </a:cubicBezTo>
                <a:lnTo>
                  <a:pt x="9336" y="3924"/>
                </a:lnTo>
                <a:lnTo>
                  <a:pt x="9336" y="1542"/>
                </a:lnTo>
                <a:cubicBezTo>
                  <a:pt x="9336" y="1233"/>
                  <a:pt x="9097" y="994"/>
                  <a:pt x="8788" y="994"/>
                </a:cubicBezTo>
                <a:lnTo>
                  <a:pt x="6716" y="994"/>
                </a:lnTo>
                <a:lnTo>
                  <a:pt x="6692" y="923"/>
                </a:lnTo>
                <a:cubicBezTo>
                  <a:pt x="6668" y="899"/>
                  <a:pt x="6645" y="852"/>
                  <a:pt x="6621" y="852"/>
                </a:cubicBezTo>
                <a:lnTo>
                  <a:pt x="4573" y="18"/>
                </a:lnTo>
                <a:cubicBezTo>
                  <a:pt x="4549" y="6"/>
                  <a:pt x="4531" y="0"/>
                  <a:pt x="4513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" name="Google Shape;2823;p94">
            <a:extLst xmlns:a="http://schemas.openxmlformats.org/drawingml/2006/main">
              <a:ext uri="{FF2B5EF4-FFF2-40B4-BE49-F238E27FC236}">
                <a16:creationId xmlns:a16="http://schemas.microsoft.com/office/drawing/2014/main" id="{E99CB2A5-D7F5-4EB2-8DAF-DFC636D2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7750" y="1881793"/>
            <a:ext cx="370213" cy="348361"/>
          </a:xfrm>
          <a:custGeom xmlns:a="http://schemas.openxmlformats.org/drawingml/2006/main">
            <a:rect l="l" t="t" r="r" b="b"/>
            <a:pathLst>
              <a:path w="5074" h="4704">
                <a:moveTo>
                  <a:pt x="2760" y="301"/>
                </a:moveTo>
                <a:cubicBezTo>
                  <a:pt x="2892" y="301"/>
                  <a:pt x="3021" y="325"/>
                  <a:pt x="3144" y="370"/>
                </a:cubicBezTo>
                <a:cubicBezTo>
                  <a:pt x="3430" y="489"/>
                  <a:pt x="3645" y="703"/>
                  <a:pt x="3740" y="965"/>
                </a:cubicBezTo>
                <a:cubicBezTo>
                  <a:pt x="3859" y="1227"/>
                  <a:pt x="3859" y="1513"/>
                  <a:pt x="3764" y="1775"/>
                </a:cubicBezTo>
                <a:lnTo>
                  <a:pt x="3287" y="1775"/>
                </a:lnTo>
                <a:cubicBezTo>
                  <a:pt x="3335" y="1679"/>
                  <a:pt x="3359" y="1560"/>
                  <a:pt x="3311" y="1441"/>
                </a:cubicBezTo>
                <a:cubicBezTo>
                  <a:pt x="3264" y="1346"/>
                  <a:pt x="3168" y="1275"/>
                  <a:pt x="3073" y="1227"/>
                </a:cubicBezTo>
                <a:cubicBezTo>
                  <a:pt x="3025" y="1203"/>
                  <a:pt x="2972" y="1191"/>
                  <a:pt x="2918" y="1191"/>
                </a:cubicBezTo>
                <a:cubicBezTo>
                  <a:pt x="2865" y="1191"/>
                  <a:pt x="2811" y="1203"/>
                  <a:pt x="2763" y="1227"/>
                </a:cubicBezTo>
                <a:lnTo>
                  <a:pt x="2621" y="1298"/>
                </a:lnTo>
                <a:cubicBezTo>
                  <a:pt x="2607" y="1303"/>
                  <a:pt x="2594" y="1305"/>
                  <a:pt x="2581" y="1305"/>
                </a:cubicBezTo>
                <a:cubicBezTo>
                  <a:pt x="2524" y="1305"/>
                  <a:pt x="2473" y="1266"/>
                  <a:pt x="2454" y="1227"/>
                </a:cubicBezTo>
                <a:cubicBezTo>
                  <a:pt x="2430" y="1155"/>
                  <a:pt x="2478" y="1108"/>
                  <a:pt x="2525" y="1084"/>
                </a:cubicBezTo>
                <a:lnTo>
                  <a:pt x="2668" y="1013"/>
                </a:lnTo>
                <a:cubicBezTo>
                  <a:pt x="2692" y="1001"/>
                  <a:pt x="2710" y="995"/>
                  <a:pt x="2728" y="995"/>
                </a:cubicBezTo>
                <a:cubicBezTo>
                  <a:pt x="2746" y="995"/>
                  <a:pt x="2763" y="1001"/>
                  <a:pt x="2787" y="1013"/>
                </a:cubicBezTo>
                <a:cubicBezTo>
                  <a:pt x="2815" y="1031"/>
                  <a:pt x="2842" y="1039"/>
                  <a:pt x="2868" y="1039"/>
                </a:cubicBezTo>
                <a:cubicBezTo>
                  <a:pt x="2910" y="1039"/>
                  <a:pt x="2948" y="1018"/>
                  <a:pt x="2978" y="989"/>
                </a:cubicBezTo>
                <a:cubicBezTo>
                  <a:pt x="3025" y="917"/>
                  <a:pt x="3002" y="822"/>
                  <a:pt x="2954" y="774"/>
                </a:cubicBezTo>
                <a:cubicBezTo>
                  <a:pt x="2892" y="728"/>
                  <a:pt x="2821" y="702"/>
                  <a:pt x="2746" y="702"/>
                </a:cubicBezTo>
                <a:cubicBezTo>
                  <a:pt x="2705" y="702"/>
                  <a:pt x="2663" y="710"/>
                  <a:pt x="2621" y="727"/>
                </a:cubicBezTo>
                <a:lnTo>
                  <a:pt x="2597" y="679"/>
                </a:lnTo>
                <a:cubicBezTo>
                  <a:pt x="2577" y="620"/>
                  <a:pt x="2509" y="578"/>
                  <a:pt x="2446" y="578"/>
                </a:cubicBezTo>
                <a:cubicBezTo>
                  <a:pt x="2432" y="578"/>
                  <a:pt x="2419" y="580"/>
                  <a:pt x="2406" y="584"/>
                </a:cubicBezTo>
                <a:cubicBezTo>
                  <a:pt x="2335" y="632"/>
                  <a:pt x="2311" y="703"/>
                  <a:pt x="2335" y="774"/>
                </a:cubicBezTo>
                <a:lnTo>
                  <a:pt x="2359" y="822"/>
                </a:lnTo>
                <a:cubicBezTo>
                  <a:pt x="2192" y="941"/>
                  <a:pt x="2120" y="1155"/>
                  <a:pt x="2192" y="1346"/>
                </a:cubicBezTo>
                <a:cubicBezTo>
                  <a:pt x="2264" y="1490"/>
                  <a:pt x="2418" y="1594"/>
                  <a:pt x="2582" y="1594"/>
                </a:cubicBezTo>
                <a:cubicBezTo>
                  <a:pt x="2635" y="1594"/>
                  <a:pt x="2688" y="1583"/>
                  <a:pt x="2740" y="1560"/>
                </a:cubicBezTo>
                <a:lnTo>
                  <a:pt x="2882" y="1489"/>
                </a:lnTo>
                <a:lnTo>
                  <a:pt x="2978" y="1489"/>
                </a:lnTo>
                <a:cubicBezTo>
                  <a:pt x="3002" y="1513"/>
                  <a:pt x="3025" y="1537"/>
                  <a:pt x="3025" y="1560"/>
                </a:cubicBezTo>
                <a:cubicBezTo>
                  <a:pt x="3049" y="1608"/>
                  <a:pt x="3025" y="1679"/>
                  <a:pt x="2978" y="1703"/>
                </a:cubicBezTo>
                <a:lnTo>
                  <a:pt x="2811" y="1775"/>
                </a:lnTo>
                <a:lnTo>
                  <a:pt x="2763" y="1775"/>
                </a:lnTo>
                <a:cubicBezTo>
                  <a:pt x="2740" y="1775"/>
                  <a:pt x="2716" y="1775"/>
                  <a:pt x="2692" y="1751"/>
                </a:cubicBezTo>
                <a:cubicBezTo>
                  <a:pt x="2668" y="1715"/>
                  <a:pt x="2632" y="1697"/>
                  <a:pt x="2594" y="1697"/>
                </a:cubicBezTo>
                <a:cubicBezTo>
                  <a:pt x="2555" y="1697"/>
                  <a:pt x="2513" y="1715"/>
                  <a:pt x="2478" y="1751"/>
                </a:cubicBezTo>
                <a:cubicBezTo>
                  <a:pt x="2478" y="1751"/>
                  <a:pt x="2478" y="1775"/>
                  <a:pt x="2454" y="1775"/>
                </a:cubicBezTo>
                <a:lnTo>
                  <a:pt x="1739" y="1775"/>
                </a:lnTo>
                <a:cubicBezTo>
                  <a:pt x="1620" y="1513"/>
                  <a:pt x="1620" y="1227"/>
                  <a:pt x="1739" y="965"/>
                </a:cubicBezTo>
                <a:cubicBezTo>
                  <a:pt x="1835" y="703"/>
                  <a:pt x="2049" y="489"/>
                  <a:pt x="2311" y="393"/>
                </a:cubicBezTo>
                <a:cubicBezTo>
                  <a:pt x="2462" y="331"/>
                  <a:pt x="2613" y="301"/>
                  <a:pt x="2760" y="301"/>
                </a:cubicBezTo>
                <a:close/>
                <a:moveTo>
                  <a:pt x="2740" y="0"/>
                </a:moveTo>
                <a:cubicBezTo>
                  <a:pt x="2561" y="0"/>
                  <a:pt x="2382" y="36"/>
                  <a:pt x="2216" y="108"/>
                </a:cubicBezTo>
                <a:cubicBezTo>
                  <a:pt x="1858" y="251"/>
                  <a:pt x="1596" y="512"/>
                  <a:pt x="1454" y="846"/>
                </a:cubicBezTo>
                <a:cubicBezTo>
                  <a:pt x="1335" y="1155"/>
                  <a:pt x="1311" y="1489"/>
                  <a:pt x="1406" y="1775"/>
                </a:cubicBezTo>
                <a:lnTo>
                  <a:pt x="739" y="1775"/>
                </a:lnTo>
                <a:cubicBezTo>
                  <a:pt x="644" y="1775"/>
                  <a:pt x="572" y="1798"/>
                  <a:pt x="501" y="1822"/>
                </a:cubicBezTo>
                <a:lnTo>
                  <a:pt x="311" y="1394"/>
                </a:lnTo>
                <a:cubicBezTo>
                  <a:pt x="293" y="1342"/>
                  <a:pt x="239" y="1303"/>
                  <a:pt x="183" y="1303"/>
                </a:cubicBezTo>
                <a:cubicBezTo>
                  <a:pt x="162" y="1303"/>
                  <a:pt x="140" y="1309"/>
                  <a:pt x="120" y="1322"/>
                </a:cubicBezTo>
                <a:cubicBezTo>
                  <a:pt x="49" y="1346"/>
                  <a:pt x="1" y="1441"/>
                  <a:pt x="49" y="1513"/>
                </a:cubicBezTo>
                <a:lnTo>
                  <a:pt x="263" y="2037"/>
                </a:lnTo>
                <a:cubicBezTo>
                  <a:pt x="215" y="2132"/>
                  <a:pt x="191" y="2227"/>
                  <a:pt x="191" y="2322"/>
                </a:cubicBezTo>
                <a:lnTo>
                  <a:pt x="191" y="4537"/>
                </a:lnTo>
                <a:cubicBezTo>
                  <a:pt x="191" y="4632"/>
                  <a:pt x="263" y="4704"/>
                  <a:pt x="334" y="4704"/>
                </a:cubicBezTo>
                <a:cubicBezTo>
                  <a:pt x="430" y="4704"/>
                  <a:pt x="501" y="4632"/>
                  <a:pt x="501" y="4537"/>
                </a:cubicBezTo>
                <a:lnTo>
                  <a:pt x="501" y="2322"/>
                </a:lnTo>
                <a:cubicBezTo>
                  <a:pt x="501" y="2179"/>
                  <a:pt x="596" y="2084"/>
                  <a:pt x="739" y="2084"/>
                </a:cubicBezTo>
                <a:lnTo>
                  <a:pt x="4907" y="2084"/>
                </a:lnTo>
                <a:cubicBezTo>
                  <a:pt x="5002" y="2084"/>
                  <a:pt x="5073" y="2013"/>
                  <a:pt x="5073" y="1918"/>
                </a:cubicBezTo>
                <a:cubicBezTo>
                  <a:pt x="5073" y="1846"/>
                  <a:pt x="5002" y="1775"/>
                  <a:pt x="4907" y="1775"/>
                </a:cubicBezTo>
                <a:lnTo>
                  <a:pt x="4073" y="1775"/>
                </a:lnTo>
                <a:cubicBezTo>
                  <a:pt x="4168" y="1465"/>
                  <a:pt x="4145" y="1155"/>
                  <a:pt x="4026" y="846"/>
                </a:cubicBezTo>
                <a:cubicBezTo>
                  <a:pt x="3883" y="512"/>
                  <a:pt x="3597" y="251"/>
                  <a:pt x="3264" y="108"/>
                </a:cubicBezTo>
                <a:cubicBezTo>
                  <a:pt x="3097" y="36"/>
                  <a:pt x="2918" y="0"/>
                  <a:pt x="2740" y="0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" name="Google Shape;2824;p94">
            <a:extLst xmlns:a="http://schemas.openxmlformats.org/drawingml/2006/main">
              <a:ext uri="{FF2B5EF4-FFF2-40B4-BE49-F238E27FC236}">
                <a16:creationId xmlns:a16="http://schemas.microsoft.com/office/drawing/2014/main" id="{73058206-418E-404E-914A-10E6922A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23435" y="1838099"/>
            <a:ext cx="102586" cy="55245"/>
          </a:xfrm>
          <a:custGeom xmlns:a="http://schemas.openxmlformats.org/drawingml/2006/main">
            <a:rect l="l" t="t" r="r" b="b"/>
            <a:pathLst>
              <a:path w="1406" h="746">
                <a:moveTo>
                  <a:pt x="1207" y="1"/>
                </a:moveTo>
                <a:cubicBezTo>
                  <a:pt x="1193" y="1"/>
                  <a:pt x="1180" y="3"/>
                  <a:pt x="1167" y="7"/>
                </a:cubicBezTo>
                <a:lnTo>
                  <a:pt x="119" y="460"/>
                </a:lnTo>
                <a:cubicBezTo>
                  <a:pt x="48" y="483"/>
                  <a:pt x="0" y="579"/>
                  <a:pt x="24" y="650"/>
                </a:cubicBezTo>
                <a:cubicBezTo>
                  <a:pt x="48" y="721"/>
                  <a:pt x="119" y="745"/>
                  <a:pt x="167" y="745"/>
                </a:cubicBezTo>
                <a:lnTo>
                  <a:pt x="215" y="745"/>
                </a:lnTo>
                <a:lnTo>
                  <a:pt x="1286" y="293"/>
                </a:lnTo>
                <a:cubicBezTo>
                  <a:pt x="1358" y="269"/>
                  <a:pt x="1405" y="174"/>
                  <a:pt x="1358" y="102"/>
                </a:cubicBezTo>
                <a:cubicBezTo>
                  <a:pt x="1338" y="44"/>
                  <a:pt x="1270" y="1"/>
                  <a:pt x="120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" name="Google Shape;2825;p94">
            <a:extLst xmlns:a="http://schemas.openxmlformats.org/drawingml/2006/main">
              <a:ext uri="{FF2B5EF4-FFF2-40B4-BE49-F238E27FC236}">
                <a16:creationId xmlns:a16="http://schemas.microsoft.com/office/drawing/2014/main" id="{A1B2B5E3-B523-48E4-B4FB-55E84DA8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9050" y="1891866"/>
            <a:ext cx="55670" cy="34955"/>
          </a:xfrm>
          <a:custGeom xmlns:a="http://schemas.openxmlformats.org/drawingml/2006/main">
            <a:rect l="l" t="t" r="r" b="b"/>
            <a:pathLst>
              <a:path w="763" h="472">
                <a:moveTo>
                  <a:pt x="599" y="0"/>
                </a:moveTo>
                <a:cubicBezTo>
                  <a:pt x="576" y="0"/>
                  <a:pt x="551" y="6"/>
                  <a:pt x="525" y="19"/>
                </a:cubicBezTo>
                <a:lnTo>
                  <a:pt x="96" y="186"/>
                </a:lnTo>
                <a:cubicBezTo>
                  <a:pt x="24" y="234"/>
                  <a:pt x="1" y="305"/>
                  <a:pt x="24" y="376"/>
                </a:cubicBezTo>
                <a:cubicBezTo>
                  <a:pt x="48" y="448"/>
                  <a:pt x="96" y="472"/>
                  <a:pt x="167" y="472"/>
                </a:cubicBezTo>
                <a:lnTo>
                  <a:pt x="215" y="472"/>
                </a:lnTo>
                <a:lnTo>
                  <a:pt x="644" y="281"/>
                </a:lnTo>
                <a:cubicBezTo>
                  <a:pt x="715" y="257"/>
                  <a:pt x="763" y="162"/>
                  <a:pt x="739" y="91"/>
                </a:cubicBezTo>
                <a:cubicBezTo>
                  <a:pt x="705" y="39"/>
                  <a:pt x="658" y="0"/>
                  <a:pt x="599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" name="Google Shape;2826;p94">
            <a:extLst xmlns:a="http://schemas.openxmlformats.org/drawingml/2006/main">
              <a:ext uri="{FF2B5EF4-FFF2-40B4-BE49-F238E27FC236}">
                <a16:creationId xmlns:a16="http://schemas.microsoft.com/office/drawing/2014/main" id="{FC228C20-9E0B-4783-8EA1-317C43E7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9467" y="2335907"/>
            <a:ext cx="76537" cy="21254"/>
          </a:xfrm>
          <a:custGeom xmlns:a="http://schemas.openxmlformats.org/drawingml/2006/main">
            <a:rect l="l" t="t" r="r" b="b"/>
            <a:pathLst>
              <a:path w="1049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6"/>
                  <a:pt x="143" y="286"/>
                </a:cubicBezTo>
                <a:lnTo>
                  <a:pt x="905" y="286"/>
                </a:lnTo>
                <a:cubicBezTo>
                  <a:pt x="977" y="286"/>
                  <a:pt x="1048" y="215"/>
                  <a:pt x="1048" y="144"/>
                </a:cubicBezTo>
                <a:cubicBezTo>
                  <a:pt x="1048" y="48"/>
                  <a:pt x="977" y="1"/>
                  <a:pt x="90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2827;p94">
            <a:extLst xmlns:a="http://schemas.openxmlformats.org/drawingml/2006/main">
              <a:ext uri="{FF2B5EF4-FFF2-40B4-BE49-F238E27FC236}">
                <a16:creationId xmlns:a16="http://schemas.microsoft.com/office/drawing/2014/main" id="{1461DC4D-EA44-4618-AC93-7BAA9E12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9467" y="2374713"/>
            <a:ext cx="177299" cy="23030"/>
          </a:xfrm>
          <a:custGeom xmlns:a="http://schemas.openxmlformats.org/drawingml/2006/main">
            <a:rect l="l" t="t" r="r" b="b"/>
            <a:pathLst>
              <a:path w="2430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86" y="310"/>
                </a:lnTo>
                <a:cubicBezTo>
                  <a:pt x="2358" y="310"/>
                  <a:pt x="2429" y="239"/>
                  <a:pt x="2429" y="143"/>
                </a:cubicBezTo>
                <a:cubicBezTo>
                  <a:pt x="2429" y="72"/>
                  <a:pt x="2358" y="1"/>
                  <a:pt x="2286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" name="Google Shape;2806;p94">
            <a:extLst xmlns:a="http://schemas.openxmlformats.org/drawingml/2006/main">
              <a:ext uri="{FF2B5EF4-FFF2-40B4-BE49-F238E27FC236}">
                <a16:creationId xmlns:a16="http://schemas.microsoft.com/office/drawing/2014/main" id="{8C06CA40-B167-45E3-9B65-D46FA89C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7324" y="1749715"/>
            <a:ext cx="738604" cy="694944"/>
          </a:xfrm>
          <a:custGeom xmlns:a="http://schemas.openxmlformats.org/drawingml/2006/main">
            <a:rect l="l" t="t" r="r" b="b"/>
            <a:pathLst>
              <a:path w="10123" h="9384">
                <a:moveTo>
                  <a:pt x="5073" y="8550"/>
                </a:moveTo>
                <a:cubicBezTo>
                  <a:pt x="5216" y="8550"/>
                  <a:pt x="5335" y="8669"/>
                  <a:pt x="5335" y="8812"/>
                </a:cubicBezTo>
                <a:cubicBezTo>
                  <a:pt x="5335" y="8954"/>
                  <a:pt x="5216" y="9097"/>
                  <a:pt x="5073" y="9097"/>
                </a:cubicBezTo>
                <a:cubicBezTo>
                  <a:pt x="4907" y="9097"/>
                  <a:pt x="4788" y="8954"/>
                  <a:pt x="4788" y="8812"/>
                </a:cubicBezTo>
                <a:cubicBezTo>
                  <a:pt x="4788" y="8669"/>
                  <a:pt x="4907" y="8550"/>
                  <a:pt x="5073" y="8550"/>
                </a:cubicBezTo>
                <a:close/>
                <a:moveTo>
                  <a:pt x="358" y="0"/>
                </a:moveTo>
                <a:cubicBezTo>
                  <a:pt x="168" y="0"/>
                  <a:pt x="1" y="167"/>
                  <a:pt x="1" y="357"/>
                </a:cubicBezTo>
                <a:lnTo>
                  <a:pt x="1" y="953"/>
                </a:lnTo>
                <a:cubicBezTo>
                  <a:pt x="1" y="1143"/>
                  <a:pt x="144" y="1286"/>
                  <a:pt x="334" y="1286"/>
                </a:cubicBezTo>
                <a:lnTo>
                  <a:pt x="334" y="5168"/>
                </a:lnTo>
                <a:cubicBezTo>
                  <a:pt x="334" y="5239"/>
                  <a:pt x="406" y="5311"/>
                  <a:pt x="477" y="5311"/>
                </a:cubicBezTo>
                <a:cubicBezTo>
                  <a:pt x="572" y="5311"/>
                  <a:pt x="644" y="5263"/>
                  <a:pt x="644" y="5168"/>
                </a:cubicBezTo>
                <a:lnTo>
                  <a:pt x="644" y="1286"/>
                </a:lnTo>
                <a:lnTo>
                  <a:pt x="7741" y="1286"/>
                </a:lnTo>
                <a:cubicBezTo>
                  <a:pt x="7812" y="1286"/>
                  <a:pt x="7884" y="1239"/>
                  <a:pt x="7884" y="1143"/>
                </a:cubicBezTo>
                <a:cubicBezTo>
                  <a:pt x="7884" y="1072"/>
                  <a:pt x="7812" y="1000"/>
                  <a:pt x="7741" y="1000"/>
                </a:cubicBezTo>
                <a:lnTo>
                  <a:pt x="358" y="1000"/>
                </a:lnTo>
                <a:cubicBezTo>
                  <a:pt x="334" y="1000"/>
                  <a:pt x="311" y="977"/>
                  <a:pt x="311" y="953"/>
                </a:cubicBezTo>
                <a:lnTo>
                  <a:pt x="311" y="357"/>
                </a:lnTo>
                <a:cubicBezTo>
                  <a:pt x="311" y="310"/>
                  <a:pt x="334" y="286"/>
                  <a:pt x="358" y="286"/>
                </a:cubicBezTo>
                <a:lnTo>
                  <a:pt x="9789" y="286"/>
                </a:lnTo>
                <a:cubicBezTo>
                  <a:pt x="9812" y="286"/>
                  <a:pt x="9836" y="334"/>
                  <a:pt x="9836" y="357"/>
                </a:cubicBezTo>
                <a:lnTo>
                  <a:pt x="9836" y="953"/>
                </a:lnTo>
                <a:cubicBezTo>
                  <a:pt x="9836" y="977"/>
                  <a:pt x="9812" y="1000"/>
                  <a:pt x="9789" y="1000"/>
                </a:cubicBezTo>
                <a:lnTo>
                  <a:pt x="8407" y="1000"/>
                </a:lnTo>
                <a:cubicBezTo>
                  <a:pt x="8312" y="1000"/>
                  <a:pt x="8241" y="1072"/>
                  <a:pt x="8241" y="1143"/>
                </a:cubicBezTo>
                <a:cubicBezTo>
                  <a:pt x="8241" y="1239"/>
                  <a:pt x="8312" y="1286"/>
                  <a:pt x="8407" y="1286"/>
                </a:cubicBezTo>
                <a:lnTo>
                  <a:pt x="9503" y="1286"/>
                </a:lnTo>
                <a:lnTo>
                  <a:pt x="9503" y="7335"/>
                </a:lnTo>
                <a:cubicBezTo>
                  <a:pt x="9503" y="7359"/>
                  <a:pt x="9479" y="7383"/>
                  <a:pt x="9455" y="7383"/>
                </a:cubicBezTo>
                <a:lnTo>
                  <a:pt x="692" y="7383"/>
                </a:lnTo>
                <a:cubicBezTo>
                  <a:pt x="668" y="7383"/>
                  <a:pt x="644" y="7359"/>
                  <a:pt x="644" y="7335"/>
                </a:cubicBezTo>
                <a:lnTo>
                  <a:pt x="644" y="5835"/>
                </a:lnTo>
                <a:cubicBezTo>
                  <a:pt x="644" y="5740"/>
                  <a:pt x="572" y="5692"/>
                  <a:pt x="477" y="5692"/>
                </a:cubicBezTo>
                <a:cubicBezTo>
                  <a:pt x="406" y="5692"/>
                  <a:pt x="334" y="5740"/>
                  <a:pt x="334" y="5835"/>
                </a:cubicBezTo>
                <a:lnTo>
                  <a:pt x="334" y="7335"/>
                </a:lnTo>
                <a:cubicBezTo>
                  <a:pt x="334" y="7526"/>
                  <a:pt x="501" y="7668"/>
                  <a:pt x="692" y="7668"/>
                </a:cubicBezTo>
                <a:lnTo>
                  <a:pt x="4907" y="7668"/>
                </a:lnTo>
                <a:lnTo>
                  <a:pt x="4907" y="8264"/>
                </a:lnTo>
                <a:cubicBezTo>
                  <a:pt x="4669" y="8335"/>
                  <a:pt x="4502" y="8550"/>
                  <a:pt x="4502" y="8812"/>
                </a:cubicBezTo>
                <a:cubicBezTo>
                  <a:pt x="4502" y="9121"/>
                  <a:pt x="4740" y="9383"/>
                  <a:pt x="5073" y="9383"/>
                </a:cubicBezTo>
                <a:cubicBezTo>
                  <a:pt x="5383" y="9383"/>
                  <a:pt x="5621" y="9121"/>
                  <a:pt x="5621" y="8812"/>
                </a:cubicBezTo>
                <a:cubicBezTo>
                  <a:pt x="5621" y="8550"/>
                  <a:pt x="5454" y="8335"/>
                  <a:pt x="5216" y="8264"/>
                </a:cubicBezTo>
                <a:lnTo>
                  <a:pt x="5216" y="7668"/>
                </a:lnTo>
                <a:lnTo>
                  <a:pt x="9431" y="7668"/>
                </a:lnTo>
                <a:cubicBezTo>
                  <a:pt x="9622" y="7668"/>
                  <a:pt x="9789" y="7526"/>
                  <a:pt x="9789" y="7335"/>
                </a:cubicBezTo>
                <a:lnTo>
                  <a:pt x="9789" y="1286"/>
                </a:lnTo>
                <a:cubicBezTo>
                  <a:pt x="9979" y="1286"/>
                  <a:pt x="10122" y="1143"/>
                  <a:pt x="10122" y="953"/>
                </a:cubicBezTo>
                <a:lnTo>
                  <a:pt x="10122" y="357"/>
                </a:lnTo>
                <a:cubicBezTo>
                  <a:pt x="10122" y="167"/>
                  <a:pt x="9979" y="0"/>
                  <a:pt x="9789" y="0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" name="Google Shape;2807;p94">
            <a:extLst xmlns:a="http://schemas.openxmlformats.org/drawingml/2006/main">
              <a:ext uri="{FF2B5EF4-FFF2-40B4-BE49-F238E27FC236}">
                <a16:creationId xmlns:a16="http://schemas.microsoft.com/office/drawing/2014/main" id="{CD192F49-369F-4F98-8ED4-A4C8B0EE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15126" y="2192350"/>
            <a:ext cx="99083" cy="21254"/>
          </a:xfrm>
          <a:custGeom xmlns:a="http://schemas.openxmlformats.org/drawingml/2006/main">
            <a:rect l="l" t="t" r="r" b="b"/>
            <a:pathLst>
              <a:path w="1358" h="287">
                <a:moveTo>
                  <a:pt x="167" y="1"/>
                </a:moveTo>
                <a:cubicBezTo>
                  <a:pt x="72" y="1"/>
                  <a:pt x="0" y="72"/>
                  <a:pt x="0" y="144"/>
                </a:cubicBezTo>
                <a:cubicBezTo>
                  <a:pt x="0" y="239"/>
                  <a:pt x="72" y="286"/>
                  <a:pt x="167" y="286"/>
                </a:cubicBezTo>
                <a:lnTo>
                  <a:pt x="1191" y="286"/>
                </a:lnTo>
                <a:cubicBezTo>
                  <a:pt x="1286" y="286"/>
                  <a:pt x="1358" y="239"/>
                  <a:pt x="1358" y="144"/>
                </a:cubicBezTo>
                <a:cubicBezTo>
                  <a:pt x="1334" y="72"/>
                  <a:pt x="1286" y="1"/>
                  <a:pt x="1191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" name="Google Shape;2808;p94">
            <a:extLst xmlns:a="http://schemas.openxmlformats.org/drawingml/2006/main">
              <a:ext uri="{FF2B5EF4-FFF2-40B4-BE49-F238E27FC236}">
                <a16:creationId xmlns:a16="http://schemas.microsoft.com/office/drawing/2014/main" id="{14C5EA9C-D598-4A0D-A45D-DE913CD7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2231154"/>
            <a:ext cx="173796" cy="23030"/>
          </a:xfrm>
          <a:custGeom xmlns:a="http://schemas.openxmlformats.org/drawingml/2006/main">
            <a:rect l="l" t="t" r="r" b="b"/>
            <a:pathLst>
              <a:path w="2382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15" y="310"/>
                </a:lnTo>
                <a:cubicBezTo>
                  <a:pt x="2310" y="310"/>
                  <a:pt x="2382" y="239"/>
                  <a:pt x="2382" y="143"/>
                </a:cubicBezTo>
                <a:cubicBezTo>
                  <a:pt x="2382" y="72"/>
                  <a:pt x="2310" y="1"/>
                  <a:pt x="22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" name="Google Shape;2809;p94">
            <a:extLst xmlns:a="http://schemas.openxmlformats.org/drawingml/2006/main">
              <a:ext uri="{FF2B5EF4-FFF2-40B4-BE49-F238E27FC236}">
                <a16:creationId xmlns:a16="http://schemas.microsoft.com/office/drawing/2014/main" id="{7B7C3734-AF21-4D82-8983-C0CF0577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1903160"/>
            <a:ext cx="36555" cy="22957"/>
          </a:xfrm>
          <a:custGeom xmlns:a="http://schemas.openxmlformats.org/drawingml/2006/main">
            <a:rect l="l" t="t" r="r" b="b"/>
            <a:pathLst>
              <a:path w="501" h="310">
                <a:moveTo>
                  <a:pt x="143" y="0"/>
                </a:moveTo>
                <a:cubicBezTo>
                  <a:pt x="72" y="0"/>
                  <a:pt x="0" y="72"/>
                  <a:pt x="0" y="143"/>
                </a:cubicBezTo>
                <a:cubicBezTo>
                  <a:pt x="0" y="238"/>
                  <a:pt x="72" y="310"/>
                  <a:pt x="143" y="310"/>
                </a:cubicBezTo>
                <a:lnTo>
                  <a:pt x="334" y="310"/>
                </a:lnTo>
                <a:cubicBezTo>
                  <a:pt x="429" y="310"/>
                  <a:pt x="500" y="238"/>
                  <a:pt x="500" y="143"/>
                </a:cubicBezTo>
                <a:cubicBezTo>
                  <a:pt x="500" y="72"/>
                  <a:pt x="429" y="0"/>
                  <a:pt x="334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2810;p94">
            <a:extLst xmlns:a="http://schemas.openxmlformats.org/drawingml/2006/main">
              <a:ext uri="{FF2B5EF4-FFF2-40B4-BE49-F238E27FC236}">
                <a16:creationId xmlns:a16="http://schemas.microsoft.com/office/drawing/2014/main" id="{726E8382-5626-4A35-8117-C100E861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94259" y="1903160"/>
            <a:ext cx="119950" cy="22957"/>
          </a:xfrm>
          <a:custGeom xmlns:a="http://schemas.openxmlformats.org/drawingml/2006/main">
            <a:rect l="l" t="t" r="r" b="b"/>
            <a:pathLst>
              <a:path w="1644" h="310">
                <a:moveTo>
                  <a:pt x="143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8"/>
                  <a:pt x="72" y="310"/>
                  <a:pt x="143" y="310"/>
                </a:cubicBezTo>
                <a:lnTo>
                  <a:pt x="1477" y="310"/>
                </a:lnTo>
                <a:cubicBezTo>
                  <a:pt x="1572" y="310"/>
                  <a:pt x="1644" y="238"/>
                  <a:pt x="1644" y="143"/>
                </a:cubicBezTo>
                <a:cubicBezTo>
                  <a:pt x="1644" y="72"/>
                  <a:pt x="1572" y="0"/>
                  <a:pt x="147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2811;p94">
            <a:extLst xmlns:a="http://schemas.openxmlformats.org/drawingml/2006/main">
              <a:ext uri="{FF2B5EF4-FFF2-40B4-BE49-F238E27FC236}">
                <a16:creationId xmlns:a16="http://schemas.microsoft.com/office/drawing/2014/main" id="{D32C549D-E00F-4E27-A48D-FE0F0D85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1943669"/>
            <a:ext cx="173796" cy="21254"/>
          </a:xfrm>
          <a:custGeom xmlns:a="http://schemas.openxmlformats.org/drawingml/2006/main">
            <a:rect l="l" t="t" r="r" b="b"/>
            <a:pathLst>
              <a:path w="2382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2215" y="287"/>
                </a:lnTo>
                <a:cubicBezTo>
                  <a:pt x="2310" y="287"/>
                  <a:pt x="2382" y="215"/>
                  <a:pt x="2382" y="144"/>
                </a:cubicBezTo>
                <a:cubicBezTo>
                  <a:pt x="2382" y="48"/>
                  <a:pt x="2310" y="1"/>
                  <a:pt x="22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" name="Google Shape;2812;p94">
            <a:extLst xmlns:a="http://schemas.openxmlformats.org/drawingml/2006/main">
              <a:ext uri="{FF2B5EF4-FFF2-40B4-BE49-F238E27FC236}">
                <a16:creationId xmlns:a16="http://schemas.microsoft.com/office/drawing/2014/main" id="{8F522A6A-49BF-4BA7-A2CA-B91A93DB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2008912"/>
            <a:ext cx="173796" cy="141225"/>
          </a:xfrm>
          <a:custGeom xmlns:a="http://schemas.openxmlformats.org/drawingml/2006/main">
            <a:rect l="l" t="t" r="r" b="b"/>
            <a:pathLst>
              <a:path w="2382" h="1907">
                <a:moveTo>
                  <a:pt x="143" y="1"/>
                </a:moveTo>
                <a:cubicBezTo>
                  <a:pt x="48" y="1"/>
                  <a:pt x="0" y="49"/>
                  <a:pt x="0" y="144"/>
                </a:cubicBezTo>
                <a:lnTo>
                  <a:pt x="0" y="1763"/>
                </a:lnTo>
                <a:cubicBezTo>
                  <a:pt x="0" y="1835"/>
                  <a:pt x="72" y="1906"/>
                  <a:pt x="143" y="1906"/>
                </a:cubicBezTo>
                <a:lnTo>
                  <a:pt x="2215" y="1906"/>
                </a:lnTo>
                <a:cubicBezTo>
                  <a:pt x="2310" y="1906"/>
                  <a:pt x="2382" y="1835"/>
                  <a:pt x="2382" y="1763"/>
                </a:cubicBezTo>
                <a:cubicBezTo>
                  <a:pt x="2382" y="1668"/>
                  <a:pt x="2310" y="1597"/>
                  <a:pt x="2215" y="1597"/>
                </a:cubicBezTo>
                <a:lnTo>
                  <a:pt x="1858" y="1597"/>
                </a:lnTo>
                <a:lnTo>
                  <a:pt x="1858" y="311"/>
                </a:lnTo>
                <a:cubicBezTo>
                  <a:pt x="1858" y="239"/>
                  <a:pt x="1786" y="168"/>
                  <a:pt x="1715" y="168"/>
                </a:cubicBezTo>
                <a:cubicBezTo>
                  <a:pt x="1644" y="168"/>
                  <a:pt x="1572" y="239"/>
                  <a:pt x="1572" y="311"/>
                </a:cubicBezTo>
                <a:lnTo>
                  <a:pt x="1572" y="1597"/>
                </a:lnTo>
                <a:lnTo>
                  <a:pt x="1334" y="1597"/>
                </a:lnTo>
                <a:lnTo>
                  <a:pt x="1334" y="1120"/>
                </a:lnTo>
                <a:cubicBezTo>
                  <a:pt x="1334" y="1049"/>
                  <a:pt x="1263" y="977"/>
                  <a:pt x="1191" y="977"/>
                </a:cubicBezTo>
                <a:cubicBezTo>
                  <a:pt x="1096" y="977"/>
                  <a:pt x="1024" y="1049"/>
                  <a:pt x="1024" y="1120"/>
                </a:cubicBezTo>
                <a:lnTo>
                  <a:pt x="1024" y="1597"/>
                </a:lnTo>
                <a:lnTo>
                  <a:pt x="786" y="1597"/>
                </a:lnTo>
                <a:lnTo>
                  <a:pt x="786" y="763"/>
                </a:lnTo>
                <a:cubicBezTo>
                  <a:pt x="786" y="668"/>
                  <a:pt x="739" y="596"/>
                  <a:pt x="643" y="596"/>
                </a:cubicBezTo>
                <a:cubicBezTo>
                  <a:pt x="572" y="596"/>
                  <a:pt x="500" y="668"/>
                  <a:pt x="500" y="763"/>
                </a:cubicBezTo>
                <a:lnTo>
                  <a:pt x="500" y="1597"/>
                </a:lnTo>
                <a:lnTo>
                  <a:pt x="286" y="1597"/>
                </a:lnTo>
                <a:lnTo>
                  <a:pt x="286" y="144"/>
                </a:lnTo>
                <a:cubicBezTo>
                  <a:pt x="286" y="72"/>
                  <a:pt x="215" y="1"/>
                  <a:pt x="143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" name="Google Shape;2813;p94">
            <a:extLst xmlns:a="http://schemas.openxmlformats.org/drawingml/2006/main">
              <a:ext uri="{FF2B5EF4-FFF2-40B4-BE49-F238E27FC236}">
                <a16:creationId xmlns:a16="http://schemas.microsoft.com/office/drawing/2014/main" id="{DDDA0B43-EEB9-4FC1-9B0E-59D039D5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33790" y="1885460"/>
            <a:ext cx="364957" cy="370427"/>
          </a:xfrm>
          <a:custGeom xmlns:a="http://schemas.openxmlformats.org/drawingml/2006/main">
            <a:rect l="l" t="t" r="r" b="b"/>
            <a:pathLst>
              <a:path w="5002" h="5002">
                <a:moveTo>
                  <a:pt x="2501" y="1215"/>
                </a:moveTo>
                <a:cubicBezTo>
                  <a:pt x="3216" y="1215"/>
                  <a:pt x="3811" y="1787"/>
                  <a:pt x="3811" y="2501"/>
                </a:cubicBezTo>
                <a:cubicBezTo>
                  <a:pt x="3811" y="3240"/>
                  <a:pt x="3216" y="3811"/>
                  <a:pt x="2501" y="3811"/>
                </a:cubicBezTo>
                <a:cubicBezTo>
                  <a:pt x="1787" y="3811"/>
                  <a:pt x="1215" y="3216"/>
                  <a:pt x="1215" y="2501"/>
                </a:cubicBezTo>
                <a:cubicBezTo>
                  <a:pt x="1215" y="1787"/>
                  <a:pt x="1787" y="1215"/>
                  <a:pt x="2501" y="1215"/>
                </a:cubicBezTo>
                <a:close/>
                <a:moveTo>
                  <a:pt x="4692" y="2668"/>
                </a:moveTo>
                <a:cubicBezTo>
                  <a:pt x="4668" y="3121"/>
                  <a:pt x="4502" y="3549"/>
                  <a:pt x="4216" y="3883"/>
                </a:cubicBezTo>
                <a:lnTo>
                  <a:pt x="3787" y="3454"/>
                </a:lnTo>
                <a:cubicBezTo>
                  <a:pt x="3954" y="3216"/>
                  <a:pt x="4073" y="2954"/>
                  <a:pt x="4097" y="2668"/>
                </a:cubicBezTo>
                <a:close/>
                <a:moveTo>
                  <a:pt x="2358" y="311"/>
                </a:moveTo>
                <a:lnTo>
                  <a:pt x="2358" y="930"/>
                </a:lnTo>
                <a:cubicBezTo>
                  <a:pt x="1549" y="1001"/>
                  <a:pt x="906" y="1692"/>
                  <a:pt x="906" y="2501"/>
                </a:cubicBezTo>
                <a:cubicBezTo>
                  <a:pt x="906" y="3383"/>
                  <a:pt x="1620" y="4097"/>
                  <a:pt x="2501" y="4097"/>
                </a:cubicBezTo>
                <a:cubicBezTo>
                  <a:pt x="2930" y="4097"/>
                  <a:pt x="3311" y="3954"/>
                  <a:pt x="3597" y="3668"/>
                </a:cubicBezTo>
                <a:cubicBezTo>
                  <a:pt x="3740" y="3811"/>
                  <a:pt x="3883" y="3954"/>
                  <a:pt x="4025" y="4097"/>
                </a:cubicBezTo>
                <a:cubicBezTo>
                  <a:pt x="3644" y="4478"/>
                  <a:pt x="3097" y="4716"/>
                  <a:pt x="2501" y="4716"/>
                </a:cubicBezTo>
                <a:cubicBezTo>
                  <a:pt x="1287" y="4716"/>
                  <a:pt x="310" y="3716"/>
                  <a:pt x="310" y="2501"/>
                </a:cubicBezTo>
                <a:cubicBezTo>
                  <a:pt x="310" y="1335"/>
                  <a:pt x="1215" y="382"/>
                  <a:pt x="2358" y="311"/>
                </a:cubicBezTo>
                <a:close/>
                <a:moveTo>
                  <a:pt x="2501" y="1"/>
                </a:moveTo>
                <a:cubicBezTo>
                  <a:pt x="1120" y="1"/>
                  <a:pt x="1" y="1144"/>
                  <a:pt x="1" y="2501"/>
                </a:cubicBezTo>
                <a:cubicBezTo>
                  <a:pt x="1" y="3883"/>
                  <a:pt x="1120" y="5002"/>
                  <a:pt x="2501" y="5002"/>
                </a:cubicBezTo>
                <a:cubicBezTo>
                  <a:pt x="3883" y="5002"/>
                  <a:pt x="5002" y="3883"/>
                  <a:pt x="5002" y="2501"/>
                </a:cubicBezTo>
                <a:cubicBezTo>
                  <a:pt x="5002" y="1978"/>
                  <a:pt x="4835" y="1477"/>
                  <a:pt x="4526" y="1049"/>
                </a:cubicBezTo>
                <a:cubicBezTo>
                  <a:pt x="4499" y="1009"/>
                  <a:pt x="4459" y="992"/>
                  <a:pt x="4415" y="992"/>
                </a:cubicBezTo>
                <a:cubicBezTo>
                  <a:pt x="4380" y="992"/>
                  <a:pt x="4343" y="1004"/>
                  <a:pt x="4311" y="1025"/>
                </a:cubicBezTo>
                <a:cubicBezTo>
                  <a:pt x="4264" y="1073"/>
                  <a:pt x="4240" y="1144"/>
                  <a:pt x="4287" y="1215"/>
                </a:cubicBezTo>
                <a:cubicBezTo>
                  <a:pt x="4526" y="1549"/>
                  <a:pt x="4668" y="1954"/>
                  <a:pt x="4692" y="2359"/>
                </a:cubicBezTo>
                <a:lnTo>
                  <a:pt x="4097" y="2359"/>
                </a:lnTo>
                <a:cubicBezTo>
                  <a:pt x="4025" y="1597"/>
                  <a:pt x="3406" y="1001"/>
                  <a:pt x="2644" y="930"/>
                </a:cubicBezTo>
                <a:lnTo>
                  <a:pt x="2644" y="311"/>
                </a:lnTo>
                <a:cubicBezTo>
                  <a:pt x="3097" y="334"/>
                  <a:pt x="3501" y="501"/>
                  <a:pt x="3859" y="787"/>
                </a:cubicBezTo>
                <a:cubicBezTo>
                  <a:pt x="3886" y="805"/>
                  <a:pt x="3917" y="813"/>
                  <a:pt x="3947" y="813"/>
                </a:cubicBezTo>
                <a:cubicBezTo>
                  <a:pt x="3996" y="813"/>
                  <a:pt x="4044" y="792"/>
                  <a:pt x="4073" y="763"/>
                </a:cubicBezTo>
                <a:cubicBezTo>
                  <a:pt x="4121" y="692"/>
                  <a:pt x="4121" y="596"/>
                  <a:pt x="4049" y="549"/>
                </a:cubicBezTo>
                <a:cubicBezTo>
                  <a:pt x="3597" y="191"/>
                  <a:pt x="3073" y="1"/>
                  <a:pt x="2501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" name="Google Shape;2814;p94">
            <a:extLst xmlns:a="http://schemas.openxmlformats.org/drawingml/2006/main">
              <a:ext uri="{FF2B5EF4-FFF2-40B4-BE49-F238E27FC236}">
                <a16:creationId xmlns:a16="http://schemas.microsoft.com/office/drawing/2014/main" id="{4776F586-DD3F-41F9-8138-A569ADAB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44225" y="2227156"/>
            <a:ext cx="52240" cy="37620"/>
          </a:xfrm>
          <a:custGeom xmlns:a="http://schemas.openxmlformats.org/drawingml/2006/main">
            <a:rect l="l" t="t" r="r" b="b"/>
            <a:pathLst>
              <a:path w="716" h="508">
                <a:moveTo>
                  <a:pt x="167" y="1"/>
                </a:moveTo>
                <a:cubicBezTo>
                  <a:pt x="132" y="1"/>
                  <a:pt x="96" y="19"/>
                  <a:pt x="72" y="55"/>
                </a:cubicBezTo>
                <a:cubicBezTo>
                  <a:pt x="1" y="102"/>
                  <a:pt x="1" y="197"/>
                  <a:pt x="72" y="245"/>
                </a:cubicBezTo>
                <a:lnTo>
                  <a:pt x="263" y="459"/>
                </a:lnTo>
                <a:cubicBezTo>
                  <a:pt x="286" y="483"/>
                  <a:pt x="334" y="507"/>
                  <a:pt x="358" y="507"/>
                </a:cubicBezTo>
                <a:cubicBezTo>
                  <a:pt x="405" y="507"/>
                  <a:pt x="429" y="483"/>
                  <a:pt x="477" y="459"/>
                </a:cubicBezTo>
                <a:lnTo>
                  <a:pt x="667" y="245"/>
                </a:lnTo>
                <a:cubicBezTo>
                  <a:pt x="715" y="197"/>
                  <a:pt x="715" y="102"/>
                  <a:pt x="667" y="55"/>
                </a:cubicBezTo>
                <a:cubicBezTo>
                  <a:pt x="632" y="19"/>
                  <a:pt x="590" y="1"/>
                  <a:pt x="551" y="1"/>
                </a:cubicBezTo>
                <a:cubicBezTo>
                  <a:pt x="513" y="1"/>
                  <a:pt x="477" y="19"/>
                  <a:pt x="453" y="55"/>
                </a:cubicBezTo>
                <a:lnTo>
                  <a:pt x="358" y="150"/>
                </a:lnTo>
                <a:lnTo>
                  <a:pt x="263" y="55"/>
                </a:lnTo>
                <a:cubicBezTo>
                  <a:pt x="239" y="19"/>
                  <a:pt x="203" y="1"/>
                  <a:pt x="16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" name="Google Shape;2815;p94">
            <a:extLst xmlns:a="http://schemas.openxmlformats.org/drawingml/2006/main">
              <a:ext uri="{FF2B5EF4-FFF2-40B4-BE49-F238E27FC236}">
                <a16:creationId xmlns:a16="http://schemas.microsoft.com/office/drawing/2014/main" id="{177E025C-E92E-4893-B07C-1CF6D862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7138" y="2075044"/>
            <a:ext cx="52167" cy="36287"/>
          </a:xfrm>
          <a:custGeom xmlns:a="http://schemas.openxmlformats.org/drawingml/2006/main">
            <a:rect l="l" t="t" r="r" b="b"/>
            <a:pathLst>
              <a:path w="715" h="490">
                <a:moveTo>
                  <a:pt x="164" y="1"/>
                </a:moveTo>
                <a:cubicBezTo>
                  <a:pt x="125" y="1"/>
                  <a:pt x="83" y="13"/>
                  <a:pt x="48" y="37"/>
                </a:cubicBezTo>
                <a:cubicBezTo>
                  <a:pt x="0" y="84"/>
                  <a:pt x="0" y="180"/>
                  <a:pt x="48" y="251"/>
                </a:cubicBezTo>
                <a:lnTo>
                  <a:pt x="238" y="442"/>
                </a:lnTo>
                <a:cubicBezTo>
                  <a:pt x="286" y="465"/>
                  <a:pt x="310" y="489"/>
                  <a:pt x="357" y="489"/>
                </a:cubicBezTo>
                <a:cubicBezTo>
                  <a:pt x="381" y="489"/>
                  <a:pt x="429" y="465"/>
                  <a:pt x="453" y="442"/>
                </a:cubicBezTo>
                <a:lnTo>
                  <a:pt x="667" y="251"/>
                </a:lnTo>
                <a:cubicBezTo>
                  <a:pt x="714" y="180"/>
                  <a:pt x="714" y="84"/>
                  <a:pt x="667" y="37"/>
                </a:cubicBezTo>
                <a:cubicBezTo>
                  <a:pt x="631" y="13"/>
                  <a:pt x="589" y="1"/>
                  <a:pt x="551" y="1"/>
                </a:cubicBezTo>
                <a:cubicBezTo>
                  <a:pt x="512" y="1"/>
                  <a:pt x="476" y="13"/>
                  <a:pt x="453" y="37"/>
                </a:cubicBezTo>
                <a:lnTo>
                  <a:pt x="357" y="132"/>
                </a:lnTo>
                <a:lnTo>
                  <a:pt x="262" y="37"/>
                </a:lnTo>
                <a:cubicBezTo>
                  <a:pt x="238" y="13"/>
                  <a:pt x="202" y="1"/>
                  <a:pt x="164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2816;p94">
            <a:extLst xmlns:a="http://schemas.openxmlformats.org/drawingml/2006/main">
              <a:ext uri="{FF2B5EF4-FFF2-40B4-BE49-F238E27FC236}">
                <a16:creationId xmlns:a16="http://schemas.microsoft.com/office/drawing/2014/main" id="{6082C206-AE8A-4608-966A-D3A30875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1762" y="1905752"/>
            <a:ext cx="52240" cy="36287"/>
          </a:xfrm>
          <a:custGeom xmlns:a="http://schemas.openxmlformats.org/drawingml/2006/main">
            <a:rect l="l" t="t" r="r" b="b"/>
            <a:pathLst>
              <a:path w="716" h="490">
                <a:moveTo>
                  <a:pt x="168" y="1"/>
                </a:moveTo>
                <a:cubicBezTo>
                  <a:pt x="132" y="1"/>
                  <a:pt x="96" y="13"/>
                  <a:pt x="72" y="37"/>
                </a:cubicBezTo>
                <a:cubicBezTo>
                  <a:pt x="1" y="84"/>
                  <a:pt x="1" y="179"/>
                  <a:pt x="72" y="251"/>
                </a:cubicBezTo>
                <a:lnTo>
                  <a:pt x="263" y="441"/>
                </a:lnTo>
                <a:cubicBezTo>
                  <a:pt x="287" y="465"/>
                  <a:pt x="310" y="489"/>
                  <a:pt x="358" y="489"/>
                </a:cubicBezTo>
                <a:cubicBezTo>
                  <a:pt x="406" y="489"/>
                  <a:pt x="429" y="465"/>
                  <a:pt x="453" y="441"/>
                </a:cubicBezTo>
                <a:lnTo>
                  <a:pt x="668" y="251"/>
                </a:lnTo>
                <a:cubicBezTo>
                  <a:pt x="715" y="179"/>
                  <a:pt x="715" y="84"/>
                  <a:pt x="668" y="37"/>
                </a:cubicBezTo>
                <a:cubicBezTo>
                  <a:pt x="632" y="13"/>
                  <a:pt x="590" y="1"/>
                  <a:pt x="552" y="1"/>
                </a:cubicBezTo>
                <a:cubicBezTo>
                  <a:pt x="513" y="1"/>
                  <a:pt x="477" y="13"/>
                  <a:pt x="453" y="37"/>
                </a:cubicBezTo>
                <a:lnTo>
                  <a:pt x="358" y="132"/>
                </a:lnTo>
                <a:lnTo>
                  <a:pt x="263" y="37"/>
                </a:lnTo>
                <a:cubicBezTo>
                  <a:pt x="239" y="13"/>
                  <a:pt x="203" y="1"/>
                  <a:pt x="16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8161535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7AAB1D99-096C-4177-8FA7-5FA824AD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010" y="1396603"/>
            <a:ext cx="1504594" cy="1401168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027345102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4D07BE69-D281-4821-9294-FFC7710CD3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447675"/>
            <a:ext cx="5810250" cy="409575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ПРОБЛЕМА ПОДБОРА</a:t>
            </a:r>
            <a:endParaRPr/>
          </a:p>
        </p:txBody>
      </p:sp>
      <p:cxnSp>
        <p:nvCxnSpPr>
          <p:cNvPr id="494150008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FFA54D6E-4EE9-4C4F-A2FA-A8DE4C7CFF2D}"/>
              </a:ext>
            </a:extLst>
          </p:cNvPr>
          <p:cNvCxnSpPr/>
          <p:nvPr/>
        </p:nvCxnSpPr>
        <p:spPr>
          <a:xfrm xmlns:a="http://schemas.openxmlformats.org/drawingml/2006/main" flipV="1">
            <a:off x="6843165" y="2119165"/>
            <a:ext cx="2489934" cy="12489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027345103" name="Работодатель">
            <a:extLst xmlns:a="http://schemas.openxmlformats.org/drawingml/2006/main">
              <a:ext uri="{FF2B5EF4-FFF2-40B4-BE49-F238E27FC236}">
                <a16:creationId xmlns:a16="http://schemas.microsoft.com/office/drawing/2014/main" id="{64C38149-CAA9-4886-BCB2-8194F097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Работодатель</a:t>
            </a:r>
          </a:p>
        </p:txBody>
      </p:sp>
      <p:sp>
        <p:nvSpPr>
          <p:cNvPr id="2027345104" name="Кандидат">
            <a:extLst xmlns:a="http://schemas.openxmlformats.org/drawingml/2006/main">
              <a:ext uri="{FF2B5EF4-FFF2-40B4-BE49-F238E27FC236}">
                <a16:creationId xmlns:a16="http://schemas.microsoft.com/office/drawing/2014/main" id="{7B9BEAA6-338B-49E8-8CCA-F043045F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861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Кандидат</a:t>
            </a:r>
          </a:p>
        </p:txBody>
      </p:sp>
      <p:sp>
        <p:nvSpPr>
          <p:cNvPr id="2027345105" name="Задача платформы">
            <a:extLst xmlns:a="http://schemas.openxmlformats.org/drawingml/2006/main">
              <a:ext uri="{FF2B5EF4-FFF2-40B4-BE49-F238E27FC236}">
                <a16:creationId xmlns:a16="http://schemas.microsoft.com/office/drawing/2014/main" id="{A336C015-A0FB-47E6-AD35-DB5A9CBF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861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Задача платформы</a:t>
            </a:r>
          </a:p>
        </p:txBody>
      </p:sp>
    </p:spTree>
    <p:extLst>
      <p:ext uri="{BB962C8B-B14F-4D97-AF65-F5344CB8AC3E}">
        <p14:creationId xmlns:p14="http://schemas.microsoft.com/office/powerpoint/2010/main" val="1407181867"/>
      </p:ext>
    </p:extLst>
  </p:cSld>
</p:sld>
</file>

<file path=ppt/slides/slide7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d7f2814ec9e743fc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8701994" name="Скругленный 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51896E71-D426-48A3-94ED-5055C802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43" y="324517"/>
            <a:ext cx="6191250" cy="620935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495445735" name="Номер слайда 12">
            <a:extLst xmlns:a="http://schemas.openxmlformats.org/drawingml/2006/main">
              <a:ext uri="{FF2B5EF4-FFF2-40B4-BE49-F238E27FC236}">
                <a16:creationId xmlns:a16="http://schemas.microsoft.com/office/drawing/2014/main" id="{769915E5-3EA6-45D1-A83E-AB5649F870F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fld id="{D3D7D1C8-AE23-AA48-DF65-C742588DBE47}" type="slidenum"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7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84913330" name="Прямая соединительная линия 33">
            <a:extLst xmlns:a="http://schemas.openxmlformats.org/drawingml/2006/main">
              <a:ext uri="{FF2B5EF4-FFF2-40B4-BE49-F238E27FC236}">
                <a16:creationId xmlns:a16="http://schemas.microsoft.com/office/drawing/2014/main" id="{CA908FF7-6CAF-441A-B529-0254AFC3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40" y="3860224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7414192" name="Прямая соединительная линия 34">
            <a:extLst xmlns:a="http://schemas.openxmlformats.org/drawingml/2006/main">
              <a:ext uri="{FF2B5EF4-FFF2-40B4-BE49-F238E27FC236}">
                <a16:creationId xmlns:a16="http://schemas.microsoft.com/office/drawing/2014/main" id="{862D748D-F001-46CB-A508-77F4F93A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137" y="3862139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63500824" name="Прямая соединительная линия 35">
            <a:extLst xmlns:a="http://schemas.openxmlformats.org/drawingml/2006/main">
              <a:ext uri="{FF2B5EF4-FFF2-40B4-BE49-F238E27FC236}">
                <a16:creationId xmlns:a16="http://schemas.microsoft.com/office/drawing/2014/main" id="{58998452-86AF-4BC9-95C4-FA6F690E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334" y="3862139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4762917" name="Прямая соединительная линия 36">
            <a:extLst xmlns:a="http://schemas.openxmlformats.org/drawingml/2006/main">
              <a:ext uri="{FF2B5EF4-FFF2-40B4-BE49-F238E27FC236}">
                <a16:creationId xmlns:a16="http://schemas.microsoft.com/office/drawing/2014/main" id="{A043DB82-4351-4023-BA55-44F4EAE7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467" y="3862139"/>
            <a:ext cx="1332545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01803337" name="Прямая соединительная линия 37">
            <a:extLst xmlns:a="http://schemas.openxmlformats.org/drawingml/2006/main">
              <a:ext uri="{FF2B5EF4-FFF2-40B4-BE49-F238E27FC236}">
                <a16:creationId xmlns:a16="http://schemas.microsoft.com/office/drawing/2014/main" id="{49808C7F-D6A4-469F-BE9D-B65E60BE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114" y="2934762"/>
            <a:ext cx="1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1259094" name="Прямая соединительная линия 38">
            <a:extLst xmlns:a="http://schemas.openxmlformats.org/drawingml/2006/main">
              <a:ext uri="{FF2B5EF4-FFF2-40B4-BE49-F238E27FC236}">
                <a16:creationId xmlns:a16="http://schemas.microsoft.com/office/drawing/2014/main" id="{B9272E52-DD47-44EF-BCEA-EB30C0B4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312" y="4216228"/>
            <a:ext cx="1245" cy="575062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77690489" name="Прямая соединительная линия 39">
            <a:extLst xmlns:a="http://schemas.openxmlformats.org/drawingml/2006/main">
              <a:ext uri="{FF2B5EF4-FFF2-40B4-BE49-F238E27FC236}">
                <a16:creationId xmlns:a16="http://schemas.microsoft.com/office/drawing/2014/main" id="{E2968800-E961-4909-962A-0544EE6A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4762"/>
            <a:ext cx="5509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02532087" name="Прямая соединительная линия 40">
            <a:extLst xmlns:a="http://schemas.openxmlformats.org/drawingml/2006/main">
              <a:ext uri="{FF2B5EF4-FFF2-40B4-BE49-F238E27FC236}">
                <a16:creationId xmlns:a16="http://schemas.microsoft.com/office/drawing/2014/main" id="{8EEC5BC6-6CED-4EDB-A116-CC961379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343442" y="4216228"/>
            <a:ext cx="4264" cy="575062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285802" name="Прямая соединительная линия 41">
            <a:extLst xmlns:a="http://schemas.openxmlformats.org/drawingml/2006/main">
              <a:ext uri="{FF2B5EF4-FFF2-40B4-BE49-F238E27FC236}">
                <a16:creationId xmlns:a16="http://schemas.microsoft.com/office/drawing/2014/main" id="{856D3308-F8A7-4125-9C04-6F1C5287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3901" y="2934762"/>
            <a:ext cx="1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8631515" name="Скругленный прямоугольник 42">
            <a:extLst xmlns:a="http://schemas.openxmlformats.org/drawingml/2006/main">
              <a:ext uri="{FF2B5EF4-FFF2-40B4-BE49-F238E27FC236}">
                <a16:creationId xmlns:a16="http://schemas.microsoft.com/office/drawing/2014/main" id="{1AB33011-A2F4-4DC5-B845-02048687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126" y="3508049"/>
            <a:ext cx="874814" cy="708179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1</a:t>
            </a:r>
            <a:endParaRPr/>
          </a:p>
        </p:txBody>
      </p:sp>
      <p:sp>
        <p:nvSpPr>
          <p:cNvPr id="1688816118" name="Скругленный прямоугольник 43">
            <a:extLst xmlns:a="http://schemas.openxmlformats.org/drawingml/2006/main">
              <a:ext uri="{FF2B5EF4-FFF2-40B4-BE49-F238E27FC236}">
                <a16:creationId xmlns:a16="http://schemas.microsoft.com/office/drawing/2014/main" id="{0D76CBC3-2AD5-4F7F-8D2D-83EF421A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397" y="3506136"/>
            <a:ext cx="874814" cy="708179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2</a:t>
            </a:r>
            <a:endParaRPr/>
          </a:p>
        </p:txBody>
      </p:sp>
      <p:sp>
        <p:nvSpPr>
          <p:cNvPr id="584928030" name="Скругленный прямоугольник 44">
            <a:extLst xmlns:a="http://schemas.openxmlformats.org/drawingml/2006/main">
              <a:ext uri="{FF2B5EF4-FFF2-40B4-BE49-F238E27FC236}">
                <a16:creationId xmlns:a16="http://schemas.microsoft.com/office/drawing/2014/main" id="{1CDCC41E-E3A5-4BA7-89CC-969C11F7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594" y="3516255"/>
            <a:ext cx="874814" cy="708179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3</a:t>
            </a:r>
            <a:endParaRPr/>
          </a:p>
        </p:txBody>
      </p:sp>
      <p:sp>
        <p:nvSpPr>
          <p:cNvPr id="1194065236" name="Скругленный прямоугольник 52">
            <a:extLst xmlns:a="http://schemas.openxmlformats.org/drawingml/2006/main">
              <a:ext uri="{FF2B5EF4-FFF2-40B4-BE49-F238E27FC236}">
                <a16:creationId xmlns:a16="http://schemas.microsoft.com/office/drawing/2014/main" id="{7CB4F4D6-822C-4267-8A7F-C7DCD04D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752" y="3506134"/>
            <a:ext cx="874814" cy="708179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4</a:t>
            </a:r>
            <a:endParaRPr/>
          </a:p>
        </p:txBody>
      </p:sp>
      <p:sp>
        <p:nvSpPr>
          <p:cNvPr id="2128610903" name="Скругленный прямоугольник 53">
            <a:extLst xmlns:a="http://schemas.openxmlformats.org/drawingml/2006/main">
              <a:ext uri="{FF2B5EF4-FFF2-40B4-BE49-F238E27FC236}">
                <a16:creationId xmlns:a16="http://schemas.microsoft.com/office/drawing/2014/main" id="{A7553480-108F-4461-903C-282C6615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011" y="3538625"/>
            <a:ext cx="874814" cy="708179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5</a:t>
            </a:r>
            <a:endParaRPr/>
          </a:p>
        </p:txBody>
      </p:sp>
      <p:sp>
        <p:nvSpPr>
          <p:cNvPr id="1787755756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426BF336-9738-4466-8ED4-1E691ABDFF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447675"/>
            <a:ext cx="5810250" cy="409575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СЦЕНАРИЙ ОБРАТНОГО НАЙМА</a:t>
            </a:r>
            <a:endParaRPr/>
          </a:p>
        </p:txBody>
      </p:sp>
      <p:sp>
        <p:nvSpPr>
          <p:cNvPr id="1680417120" name="Скругленный 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E7FFBA70-D21D-4358-BFCF-E10D1A14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74354253" name="Скругленный 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3ACB5DA3-3883-4142-97F7-36783B95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1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714956720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22E911BC-BE5A-43A6-8798-8199560B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8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489842510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7E90A7DE-33A7-4555-A90A-C68E57AA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78" y="4825338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60936839" name="Скругленный 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EB888D7A-3B1E-48F8-B690-665399B8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708" y="4791290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2128610904" name="Профиль">
            <a:extLst xmlns:a="http://schemas.openxmlformats.org/drawingml/2006/main">
              <a:ext uri="{FF2B5EF4-FFF2-40B4-BE49-F238E27FC236}">
                <a16:creationId xmlns:a16="http://schemas.microsoft.com/office/drawing/2014/main" id="{35D9895E-D8B1-4A8D-9DEF-D5D4F5FC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Профиль</a:t>
            </a:r>
          </a:p>
        </p:txBody>
      </p:sp>
      <p:sp>
        <p:nvSpPr>
          <p:cNvPr id="2128610905" name="Стек, образование, проекты и видимость">
            <a:extLst xmlns:a="http://schemas.openxmlformats.org/drawingml/2006/main">
              <a:ext uri="{FF2B5EF4-FFF2-40B4-BE49-F238E27FC236}">
                <a16:creationId xmlns:a16="http://schemas.microsoft.com/office/drawing/2014/main" id="{817FF58D-926B-4BB2-96DA-529BA81B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81200"/>
            <a:ext cx="228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Стек, образование, проекты и видимость</a:t>
            </a:r>
          </a:p>
        </p:txBody>
      </p:sp>
      <p:sp>
        <p:nvSpPr>
          <p:cNvPr id="2128610906" name="Проверка">
            <a:extLst xmlns:a="http://schemas.openxmlformats.org/drawingml/2006/main">
              <a:ext uri="{FF2B5EF4-FFF2-40B4-BE49-F238E27FC236}">
                <a16:creationId xmlns:a16="http://schemas.microsoft.com/office/drawing/2014/main" id="{C99CD396-F584-4084-B000-780D631F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625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Проверка</a:t>
            </a:r>
          </a:p>
        </p:txBody>
      </p:sp>
      <p:sp>
        <p:nvSpPr>
          <p:cNvPr id="2128610907" name="Опрос и 15 заданий выбранного грейда">
            <a:extLst xmlns:a="http://schemas.openxmlformats.org/drawingml/2006/main">
              <a:ext uri="{FF2B5EF4-FFF2-40B4-BE49-F238E27FC236}">
                <a16:creationId xmlns:a16="http://schemas.microsoft.com/office/drawing/2014/main" id="{B0B33EF7-857E-4BBB-A8C2-C3FF59D7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00675"/>
            <a:ext cx="228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Опрос и 15 заданий выбранного грейда</a:t>
            </a:r>
          </a:p>
        </p:txBody>
      </p:sp>
      <p:sp>
        <p:nvSpPr>
          <p:cNvPr id="2128610908" name="Подбор">
            <a:extLst xmlns:a="http://schemas.openxmlformats.org/drawingml/2006/main">
              <a:ext uri="{FF2B5EF4-FFF2-40B4-BE49-F238E27FC236}">
                <a16:creationId xmlns:a16="http://schemas.microsoft.com/office/drawing/2014/main" id="{936768C2-E38D-4C00-B86C-80A870B9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430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Подбор</a:t>
            </a:r>
          </a:p>
        </p:txBody>
      </p:sp>
      <p:sp>
        <p:nvSpPr>
          <p:cNvPr id="2128610909" name="Категория, стек и причины подбора">
            <a:extLst xmlns:a="http://schemas.openxmlformats.org/drawingml/2006/main">
              <a:ext uri="{FF2B5EF4-FFF2-40B4-BE49-F238E27FC236}">
                <a16:creationId xmlns:a16="http://schemas.microsoft.com/office/drawing/2014/main" id="{86AEFEC9-8046-4DB1-A69E-A7A26070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Категория, стек и причины подбора</a:t>
            </a:r>
          </a:p>
        </p:txBody>
      </p:sp>
      <p:sp>
        <p:nvSpPr>
          <p:cNvPr id="2128610910" name="Приглашение">
            <a:extLst xmlns:a="http://schemas.openxmlformats.org/drawingml/2006/main">
              <a:ext uri="{FF2B5EF4-FFF2-40B4-BE49-F238E27FC236}">
                <a16:creationId xmlns:a16="http://schemas.microsoft.com/office/drawing/2014/main" id="{112163BA-1166-4EE5-88C1-7B3DD51C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625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Приглашение</a:t>
            </a:r>
          </a:p>
        </p:txBody>
      </p:sp>
      <p:sp>
        <p:nvSpPr>
          <p:cNvPr id="2128610911" name="Зарплатная вилка и необязательное задание">
            <a:extLst xmlns:a="http://schemas.openxmlformats.org/drawingml/2006/main">
              <a:ext uri="{FF2B5EF4-FFF2-40B4-BE49-F238E27FC236}">
                <a16:creationId xmlns:a16="http://schemas.microsoft.com/office/drawing/2014/main" id="{97C4FBE9-7446-4F65-87D0-39329B9F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00675"/>
            <a:ext cx="228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Зарплатная вилка и необязательное задание</a:t>
            </a:r>
          </a:p>
        </p:txBody>
      </p:sp>
      <p:sp>
        <p:nvSpPr>
          <p:cNvPr id="2128610912" name="Ответ">
            <a:extLst xmlns:a="http://schemas.openxmlformats.org/drawingml/2006/main">
              <a:ext uri="{FF2B5EF4-FFF2-40B4-BE49-F238E27FC236}">
                <a16:creationId xmlns:a16="http://schemas.microsoft.com/office/drawing/2014/main" id="{23B4F06F-ED05-439E-97AC-FCC1BE2B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5430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Ответ</a:t>
            </a:r>
          </a:p>
        </p:txBody>
      </p:sp>
      <p:sp>
        <p:nvSpPr>
          <p:cNvPr id="2128610913" name="Решение, обратная связь и согласие на контакт">
            <a:extLst xmlns:a="http://schemas.openxmlformats.org/drawingml/2006/main">
              <a:ext uri="{FF2B5EF4-FFF2-40B4-BE49-F238E27FC236}">
                <a16:creationId xmlns:a16="http://schemas.microsoft.com/office/drawing/2014/main" id="{CBD861B0-3FB0-4FEF-8D54-38D1B0D2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81200"/>
            <a:ext cx="228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Решение, обратная связь и согласие на контакт</a:t>
            </a:r>
          </a:p>
        </p:txBody>
      </p:sp>
    </p:spTree>
    <p:extLst>
      <p:ext uri="{BB962C8B-B14F-4D97-AF65-F5344CB8AC3E}">
        <p14:creationId xmlns:p14="http://schemas.microsoft.com/office/powerpoint/2010/main" val="1559515063"/>
      </p:ext>
    </p:extLst>
  </p:cSld>
</p:sld>
</file>

<file path=ppt/slides/slide8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54058c8f9dc44689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7210817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08910768-4B2E-45DB-93C0-9B7F1031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43" y="324517"/>
            <a:ext cx="6191250" cy="620935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87311209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8F2F82-4FEC-413A-8DA9-D474C490894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fld id="{BA58DA2A-B818-18A9-29C1-B697728D5BCE}" type="slidenum"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465461907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8E3BDBA8-D098-4494-B189-291601A539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447675"/>
            <a:ext cx="5810250" cy="409575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КАБИНЕТ КАНДИДАТА</a:t>
            </a:r>
            <a:endParaRPr/>
          </a:p>
        </p:txBody>
      </p:sp>
      <p:pic>
        <p:nvPicPr>
          <p:cNvPr id="1887311210" name="">
            <a:extLst xmlns:a="http://schemas.openxmlformats.org/drawingml/2006/main">
              <a:ext uri="{FF2B5EF4-FFF2-40B4-BE49-F238E27FC236}">
                <a16:creationId xmlns:a16="http://schemas.microsoft.com/office/drawing/2014/main" id="{D119C7E6-D20E-4A04-BC0D-EE04B88649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f6c33d42d42b8"/>
          <a:stretch xmlns:a="http://schemas.openxmlformats.org/drawingml/2006/main"/>
        </p:blipFill>
        <p:spPr>
          <a:xfrm xmlns:a="http://schemas.openxmlformats.org/drawingml/2006/main">
            <a:off x="381000" y="1238250"/>
            <a:ext cx="7620000" cy="4953000"/>
          </a:xfrm>
          <a:prstGeom xmlns:a="http://schemas.openxmlformats.org/drawingml/2006/main" prst="rect">
            <a:avLst/>
          </a:prstGeom>
        </p:spPr>
      </p:pic>
      <p:sp>
        <p:nvSpPr>
          <p:cNvPr id="1887311211" name="Структурированный профиль&#10;&#10;Портфолио проектов">
            <a:extLst xmlns:a="http://schemas.openxmlformats.org/drawingml/2006/main">
              <a:ext uri="{FF2B5EF4-FFF2-40B4-BE49-F238E27FC236}">
                <a16:creationId xmlns:a16="http://schemas.microsoft.com/office/drawing/2014/main" id="{C59D237C-7F23-4C82-A489-CD983B15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76375"/>
            <a:ext cx="33337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Структурированный профиль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Портфолио проектов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Проверка компетенций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Настройки видимости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PDF-профиль</a:t>
            </a:r>
          </a:p>
        </p:txBody>
      </p:sp>
    </p:spTree>
    <p:extLst>
      <p:ext uri="{BB962C8B-B14F-4D97-AF65-F5344CB8AC3E}">
        <p14:creationId xmlns:p14="http://schemas.microsoft.com/office/powerpoint/2010/main" val="1798618214"/>
      </p:ext>
    </p:extLst>
  </p:cSld>
</p:sld>
</file>

<file path=ppt/slides/slide9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bd82fbf131834a9b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7210817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08910768-4B2E-45DB-93C0-9B7F1031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43" y="324517"/>
            <a:ext cx="6191250" cy="620935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87311209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8F2F82-4FEC-413A-8DA9-D474C490894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fld id="{388657AE-30A1-5A7A-6A7F-315D84436430}" type="slidenum"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9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465461907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8E3BDBA8-D098-4494-B189-291601A539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447675"/>
            <a:ext cx="5810250" cy="409575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КАБИНЕТ РАБОТОДАТЕЛЯ</a:t>
            </a:r>
            <a:endParaRPr/>
          </a:p>
        </p:txBody>
      </p:sp>
      <p:pic>
        <p:nvPicPr>
          <p:cNvPr id="1887311210" name="">
            <a:extLst xmlns:a="http://schemas.openxmlformats.org/drawingml/2006/main">
              <a:ext uri="{FF2B5EF4-FFF2-40B4-BE49-F238E27FC236}">
                <a16:creationId xmlns:a16="http://schemas.microsoft.com/office/drawing/2014/main" id="{C57801B4-0389-4D77-8C6B-6428E1093E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a90fcce7842a1"/>
          <a:stretch xmlns:a="http://schemas.openxmlformats.org/drawingml/2006/main"/>
        </p:blipFill>
        <p:spPr>
          <a:xfrm xmlns:a="http://schemas.openxmlformats.org/drawingml/2006/main">
            <a:off x="381000" y="1238250"/>
            <a:ext cx="7620000" cy="4953000"/>
          </a:xfrm>
          <a:prstGeom xmlns:a="http://schemas.openxmlformats.org/drawingml/2006/main" prst="rect">
            <a:avLst/>
          </a:prstGeom>
        </p:spPr>
      </p:pic>
      <p:sp>
        <p:nvSpPr>
          <p:cNvPr id="1887311211" name="Фильтры по категории и стеку&#10;&#10;Профиль и портф">
            <a:extLst xmlns:a="http://schemas.openxmlformats.org/drawingml/2006/main">
              <a:ext uri="{FF2B5EF4-FFF2-40B4-BE49-F238E27FC236}">
                <a16:creationId xmlns:a16="http://schemas.microsoft.com/office/drawing/2014/main" id="{0167DA60-B0C5-4BA0-8A04-9126E976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76375"/>
            <a:ext cx="33337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Фильтры по категории и стеку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Профиль и портфолио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Причины соответствия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Контакт скрыт до согласия</a:t>
            </a:r>
          </a:p>
        </p:txBody>
      </p:sp>
    </p:spTree>
    <p:extLst>
      <p:ext uri="{BB962C8B-B14F-4D97-AF65-F5344CB8AC3E}">
        <p14:creationId xmlns:p14="http://schemas.microsoft.com/office/powerpoint/2010/main" val="1798618214"/>
      </p:ext>
    </p:extLst>
  </p:cSld>
</p:sld>
</file>

<file path=ppt/slides/slide10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c6bdcdea8c614cb8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5634442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8C301706-62FF-4BAF-ADCD-00056A98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43" y="324517"/>
            <a:ext cx="6191250" cy="620935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68937420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543A4ED7-CFC0-4967-80A7-4B7F80A3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82881088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9FE6294F-9AAE-419B-84FC-D73EE8FC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071002728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A346D823-6F41-4E85-A2F5-5397401A449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fld id="{DB7BEEEC-A170-5376-2B6E-CB54687B0CB1}" type="slidenum"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30881606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B8F7C2E-CED3-42DC-8D4B-9AA14D7DB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447675"/>
            <a:ext cx="5810250" cy="409575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 КОМПЕТЕНЦИЙ</a:t>
            </a:r>
            <a:endParaRPr/>
          </a:p>
        </p:txBody>
      </p:sp>
      <p:sp>
        <p:nvSpPr>
          <p:cNvPr id="2071002729" name="Автоматическая проверка">
            <a:extLst xmlns:a="http://schemas.openxmlformats.org/drawingml/2006/main">
              <a:ext uri="{FF2B5EF4-FFF2-40B4-BE49-F238E27FC236}">
                <a16:creationId xmlns:a16="http://schemas.microsoft.com/office/drawing/2014/main" id="{95801EFD-147D-43D4-963B-3E674024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Автоматическая проверка</a:t>
            </a:r>
          </a:p>
        </p:txBody>
      </p:sp>
      <p:sp>
        <p:nvSpPr>
          <p:cNvPr id="2071002730" name="Backend, Frontend, Data Science&#10;&#10;10 ситуацион">
            <a:extLst xmlns:a="http://schemas.openxmlformats.org/drawingml/2006/main">
              <a:ext uri="{FF2B5EF4-FFF2-40B4-BE49-F238E27FC236}">
                <a16:creationId xmlns:a16="http://schemas.microsoft.com/office/drawing/2014/main" id="{8CD9343B-C62D-4B1C-97F2-482CB271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4857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Backend, Frontend, Data Science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10 ситуационных вопросов</a:t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5 прикладных заданий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Пороги Junior / Middle / Senior:</a:t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70 / 80 / 87 баллов из 100</a:t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 минимум 3 прикладных ответа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Единые правила оценки по грейдам</a:t>
            </a:r>
          </a:p>
        </p:txBody>
      </p:sp>
      <p:sp>
        <p:nvSpPr>
          <p:cNvPr id="2071002731" name="Проверка работодателем">
            <a:extLst xmlns:a="http://schemas.openxmlformats.org/drawingml/2006/main">
              <a:ext uri="{FF2B5EF4-FFF2-40B4-BE49-F238E27FC236}">
                <a16:creationId xmlns:a16="http://schemas.microsoft.com/office/drawing/2014/main" id="{1BB11538-8F91-4F45-B7FE-E2282B37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Проверка работодателем</a:t>
            </a:r>
          </a:p>
        </p:txBody>
      </p:sp>
      <p:sp>
        <p:nvSpPr>
          <p:cNvPr id="2071002732" name="15 задач в каталоге или своё условие&#10;&#10;Шаблон ">
            <a:extLst xmlns:a="http://schemas.openxmlformats.org/drawingml/2006/main">
              <a:ext uri="{FF2B5EF4-FFF2-40B4-BE49-F238E27FC236}">
                <a16:creationId xmlns:a16="http://schemas.microsoft.com/office/drawing/2014/main" id="{505B7CA4-FEE9-4184-87B0-A666DDD8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857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15 задач в каталоге или своё условие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Шаблон по потребности и стеку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Ответ кандидата и ссылка на работу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Три критерия по 0–2 балла</a:t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 комментарий работодателя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Отдельная оценка конкретного задания</a:t>
            </a:r>
          </a:p>
        </p:txBody>
      </p:sp>
    </p:spTree>
    <p:extLst>
      <p:ext uri="{BB962C8B-B14F-4D97-AF65-F5344CB8AC3E}">
        <p14:creationId xmlns:p14="http://schemas.microsoft.com/office/powerpoint/2010/main" val="36640946"/>
      </p:ext>
    </p:extLst>
  </p:cSld>
</p:sld>
</file>

<file path=ppt/slides/slide11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c1b29e77838649e5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5783263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1B314C3-B684-4697-8E38-F7E5B463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43" y="324517"/>
            <a:ext cx="6191250" cy="620935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43295072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EFB6CDD5-2329-4920-9CE8-A74472A59A6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fld id="{30394428-F1DC-E5F6-DB0C-7DE31F3D8A23}" type="slidenum"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11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969770086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D7DBC6AD-F92F-4EDC-ADC5-04FDD89C38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447675"/>
            <a:ext cx="5810250" cy="409575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ОБЪЯСНИМЫЙ ПОДБОР</a:t>
            </a:r>
            <a:endParaRPr/>
          </a:p>
        </p:txBody>
      </p:sp>
      <p:graphicFrame>
        <p:nvGraphicFramePr>
          <p:cNvPr id="1969770087" name="Chart">
            <a:extLst xmlns:a="http://schemas.openxmlformats.org/drawingml/2006/main">
              <a:ext uri="{FF2B5EF4-FFF2-40B4-BE49-F238E27FC236}">
                <a16:creationId xmlns:a16="http://schemas.microsoft.com/office/drawing/2014/main" id="{02C944C2-5B2A-4889-8A7F-E8A1A860ECFB}"/>
              </a:ext>
            </a:extLst>
          </p:cNvPr>
          <p:cNvGraphicFramePr/>
          <p:nvPr/>
        </p:nvGraphicFramePr>
        <p:xfrm>
          <a:off xmlns:a="http://schemas.openxmlformats.org/drawingml/2006/main" x="381000" y="1428750"/>
          <a:ext xmlns:a="http://schemas.openxmlformats.org/drawingml/2006/main" cx="6191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a37457fd5d4e6e"/>
          </a:graphicData>
        </a:graphic>
      </p:graphicFrame>
      <p:sp>
        <p:nvSpPr>
          <p:cNvPr id="1969770088" name="Индекс от 0 до 100">
            <a:extLst xmlns:a="http://schemas.openxmlformats.org/drawingml/2006/main">
              <a:ext uri="{FF2B5EF4-FFF2-40B4-BE49-F238E27FC236}">
                <a16:creationId xmlns:a16="http://schemas.microsoft.com/office/drawing/2014/main" id="{F3709D9F-B8FD-4990-A308-C514D27B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4287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Индекс от 0 до 100</a:t>
            </a:r>
          </a:p>
        </p:txBody>
      </p:sp>
      <p:sp>
        <p:nvSpPr>
          <p:cNvPr id="1969770089" name="Показываем вклад каждого фактора и соответств">
            <a:extLst xmlns:a="http://schemas.openxmlformats.org/drawingml/2006/main">
              <a:ext uri="{FF2B5EF4-FFF2-40B4-BE49-F238E27FC236}">
                <a16:creationId xmlns:a16="http://schemas.microsoft.com/office/drawing/2014/main" id="{A56A0B81-25F7-4429-941D-21DA774F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38375"/>
            <a:ext cx="4476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Показываем вклад каждого фактора и соответствие требованиям.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Стек заявляет кандидат. Тест проверяет компетенции специализации.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Индекс помогает сравнить профили и выбрать кандидата для приглашения.</a:t>
            </a:r>
          </a:p>
        </p:txBody>
      </p:sp>
    </p:spTree>
    <p:extLst>
      <p:ext uri="{BB962C8B-B14F-4D97-AF65-F5344CB8AC3E}">
        <p14:creationId xmlns:p14="http://schemas.microsoft.com/office/powerpoint/2010/main" val="317568537"/>
      </p:ext>
    </p:extLst>
  </p:cSld>
</p:sld>
</file>

<file path=ppt/slides/slide12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7e8e0d1d388d470f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7210817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08910768-4B2E-45DB-93C0-9B7F1031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43" y="324517"/>
            <a:ext cx="6191250" cy="620935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87311209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8F2F82-4FEC-413A-8DA9-D474C490894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fld id="{4DB16885-0D3F-A391-B669-3211DB3B26E8}" type="slidenum"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12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465461907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8E3BDBA8-D098-4494-B189-291601A539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447675"/>
            <a:ext cx="5810250" cy="409575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АРХИТЕКТУРА И API</a:t>
            </a:r>
            <a:endParaRPr/>
          </a:p>
        </p:txBody>
      </p:sp>
      <p:graphicFrame>
        <p:nvGraphicFramePr>
          <p:cNvPr id="1887311210" name="">
            <a:extLst xmlns:a="http://schemas.openxmlformats.org/drawingml/2006/main">
              <a:ext uri="{FF2B5EF4-FFF2-40B4-BE49-F238E27FC236}">
                <a16:creationId xmlns:a16="http://schemas.microsoft.com/office/drawing/2014/main" id="{2EFCB798-6B42-4FF6-9DA3-57BE8EB5F65F}"/>
              </a:ext>
            </a:extLst>
          </p:cNvPr>
          <p:cNvGraphicFramePr/>
          <p:nvPr/>
        </p:nvGraphicFramePr>
        <p:xfrm>
          <a:off xmlns:a="http://schemas.openxmlformats.org/drawingml/2006/main" x="523875" y="1476375"/>
          <a:ext xmlns:a="http://schemas.openxmlformats.org/drawingml/2006/main" cx="111442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286250"/>
                <a:gridCol w="4762500"/>
              </a:tblGrid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Уровень</a:t>
                      </a:r>
                    </a:p>
                  </a:txBody>
                  <a:tcPr marL="91440" marR="91440" marT="45720" marB="45720">
                    <a:solidFill>
                      <a:srgbClr val="52097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Технологии</a:t>
                      </a:r>
                    </a:p>
                  </a:txBody>
                  <a:tcPr marL="91440" marR="91440" marT="45720" marB="45720">
                    <a:solidFill>
                      <a:srgbClr val="52097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Ответственность</a:t>
                      </a:r>
                    </a:p>
                  </a:txBody>
                  <a:tcPr marL="91440" marR="91440" marT="45720" marB="45720">
                    <a:solidFill>
                      <a:srgbClr val="520978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Интерфейс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React 19, TypeScript, Tailwind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Кабинеты и формы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Сервер</a:t>
                      </a:r>
                    </a:p>
                  </a:txBody>
                  <a:tcPr marL="91440" marR="91440" marT="45720" marB="45720">
                    <a:solidFill>
                      <a:srgbClr val="F3ED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Vinext, Cloudflare Worker</a:t>
                      </a:r>
                    </a:p>
                  </a:txBody>
                  <a:tcPr marL="91440" marR="91440" marT="45720" marB="45720">
                    <a:solidFill>
                      <a:srgbClr val="F3ED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API и проверка доступа</a:t>
                      </a:r>
                    </a:p>
                  </a:txBody>
                  <a:tcPr marL="91440" marR="91440" marT="45720" marB="45720">
                    <a:solidFill>
                      <a:srgbClr val="F3EDF8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Данные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D1, SQLite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Профили, тесты, приглашения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Почта</a:t>
                      </a:r>
                    </a:p>
                  </a:txBody>
                  <a:tcPr marL="91440" marR="91440" marT="45720" marB="45720">
                    <a:solidFill>
                      <a:srgbClr val="F3ED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Mail.ru SMTP, TLS</a:t>
                      </a:r>
                    </a:p>
                  </a:txBody>
                  <a:tcPr marL="91440" marR="91440" marT="45720" marB="45720">
                    <a:solidFill>
                      <a:srgbClr val="F3ED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Коды подтверждения</a:t>
                      </a:r>
                    </a:p>
                  </a:txBody>
                  <a:tcPr marL="91440" marR="91440" marT="45720" marB="45720">
                    <a:solidFill>
                      <a:srgbClr val="F3EDF8"/>
                    </a:solidFill>
                  </a:tcPr>
                </a:tc>
              </a:tr>
            </a:tbl>
          </a:graphicData>
        </a:graphic>
      </p:graphicFrame>
      <p:sp>
        <p:nvSpPr>
          <p:cNvPr id="1887311211" name="Сессии и хеши паролей. Сервер проверяет роль ">
            <a:extLst xmlns:a="http://schemas.openxmlformats.org/drawingml/2006/main">
              <a:ext uri="{FF2B5EF4-FFF2-40B4-BE49-F238E27FC236}">
                <a16:creationId xmlns:a16="http://schemas.microsoft.com/office/drawing/2014/main" id="{5E70E7DD-5F59-4598-8E39-912A3BEB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Сессии и хеши паролей. Сервер проверяет роль и владельца записи.</a:t>
            </a:r>
          </a:p>
          <a:p xmlns:a="http://schemas.openxmlformats.org/drawingml/2006/main">
            <a:pPr>
              <a:def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Транзакция сохраняет результат теста и грейд вместе. API описан в OpenAPI.</a:t>
            </a:r>
          </a:p>
        </p:txBody>
      </p:sp>
    </p:spTree>
    <p:extLst>
      <p:ext uri="{BB962C8B-B14F-4D97-AF65-F5344CB8AC3E}">
        <p14:creationId xmlns:p14="http://schemas.microsoft.com/office/powerpoint/2010/main" val="1798618214"/>
      </p:ext>
    </p:extLst>
  </p:cSld>
</p:sld>
</file>

<file path=ppt/slides/slide13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650e599f4f51425a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0003109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E2C45F02-095E-45B6-AE8A-42CEE3B7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43" y="324517"/>
            <a:ext cx="6191250" cy="620935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192804706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08CEA0AB-F0E0-43DB-B40D-674E048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425" y="1522006"/>
            <a:ext cx="2672801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053439595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7436293B-EAAF-4709-9908-56DF7119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522006"/>
            <a:ext cx="2672801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560942575" name="Скругленный 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7BD32292-0619-4510-A766-04979A2E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3123" y="1522006"/>
            <a:ext cx="2672801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92387910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9381E1E7-66FB-499D-8FB2-5199FDB3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522006"/>
            <a:ext cx="2672801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109772682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C63853FE-B60C-4323-BC73-8B200D9EE62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fld id="{2DD23107-4986-8758-3A93-3D74F35908CC}" type="slidenum"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1850102213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AAD3A274-0836-4C7A-BED3-EBAB2C4552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447675"/>
            <a:ext cx="5810250" cy="409575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ТЕХНИЧЕСКИЕ ПРОВЕРКИ</a:t>
            </a:r>
            <a:endParaRPr/>
          </a:p>
        </p:txBody>
      </p:sp>
      <p:sp>
        <p:nvSpPr>
          <p:cNvPr id="1850102214" name="44">
            <a:extLst xmlns:a="http://schemas.openxmlformats.org/drawingml/2006/main">
              <a:ext uri="{FF2B5EF4-FFF2-40B4-BE49-F238E27FC236}">
                <a16:creationId xmlns:a16="http://schemas.microsoft.com/office/drawing/2014/main" id="{1358D477-A8DD-455F-896C-FDDBE5B1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93" y="1857375"/>
            <a:ext cx="228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4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44</a:t>
            </a:r>
          </a:p>
        </p:txBody>
      </p:sp>
      <p:sp>
        <p:nvSpPr>
          <p:cNvPr id="1850102215" name="серверные проверки">
            <a:extLst xmlns:a="http://schemas.openxmlformats.org/drawingml/2006/main">
              <a:ext uri="{FF2B5EF4-FFF2-40B4-BE49-F238E27FC236}">
                <a16:creationId xmlns:a16="http://schemas.microsoft.com/office/drawing/2014/main" id="{8BF27660-26DA-4FEC-89DF-4ACF8164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93" y="2857500"/>
            <a:ext cx="2266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серверные проверки</a:t>
            </a:r>
          </a:p>
        </p:txBody>
      </p:sp>
      <p:sp>
        <p:nvSpPr>
          <p:cNvPr id="1850102216" name="Роли, владельцы, контакты и откат при сбое">
            <a:extLst xmlns:a="http://schemas.openxmlformats.org/drawingml/2006/main">
              <a:ext uri="{FF2B5EF4-FFF2-40B4-BE49-F238E27FC236}">
                <a16:creationId xmlns:a16="http://schemas.microsoft.com/office/drawing/2014/main" id="{A10303F3-D31D-4711-8EC9-182CC71E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93" y="4000500"/>
            <a:ext cx="2266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Роли, владельцы, контакты и откат при сбое</a:t>
            </a:r>
          </a:p>
        </p:txBody>
      </p:sp>
      <p:sp>
        <p:nvSpPr>
          <p:cNvPr id="1850102217" name="900">
            <a:extLst xmlns:a="http://schemas.openxmlformats.org/drawingml/2006/main">
              <a:ext uri="{FF2B5EF4-FFF2-40B4-BE49-F238E27FC236}">
                <a16:creationId xmlns:a16="http://schemas.microsoft.com/office/drawing/2014/main" id="{B253271A-D90E-450E-87E6-2320662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961" y="1857375"/>
            <a:ext cx="228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4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900</a:t>
            </a:r>
          </a:p>
        </p:txBody>
      </p:sp>
      <p:sp>
        <p:nvSpPr>
          <p:cNvPr id="1850102218" name="генераций теста">
            <a:extLst xmlns:a="http://schemas.openxmlformats.org/drawingml/2006/main">
              <a:ext uri="{FF2B5EF4-FFF2-40B4-BE49-F238E27FC236}">
                <a16:creationId xmlns:a16="http://schemas.microsoft.com/office/drawing/2014/main" id="{02086E62-1ACF-45B3-983A-60060544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961" y="2857500"/>
            <a:ext cx="2266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генераций теста</a:t>
            </a:r>
          </a:p>
        </p:txBody>
      </p:sp>
      <p:sp>
        <p:nvSpPr>
          <p:cNvPr id="1850102219" name="Эталонные ответы успешно проходят проверку. Т">
            <a:extLst xmlns:a="http://schemas.openxmlformats.org/drawingml/2006/main">
              <a:ext uri="{FF2B5EF4-FFF2-40B4-BE49-F238E27FC236}">
                <a16:creationId xmlns:a16="http://schemas.microsoft.com/office/drawing/2014/main" id="{B4F7E5AF-8640-42A0-B326-A4756B2B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961" y="4000500"/>
            <a:ext cx="2266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Эталонные ответы успешно проходят проверку. Тест учитывает решение прикладных задач</a:t>
            </a:r>
          </a:p>
        </p:txBody>
      </p:sp>
      <p:sp>
        <p:nvSpPr>
          <p:cNvPr id="1850102220" name="100">
            <a:extLst xmlns:a="http://schemas.openxmlformats.org/drawingml/2006/main">
              <a:ext uri="{FF2B5EF4-FFF2-40B4-BE49-F238E27FC236}">
                <a16:creationId xmlns:a16="http://schemas.microsoft.com/office/drawing/2014/main" id="{139F0E4A-EEE3-4980-8AE7-1BB7DAB9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329" y="1857375"/>
            <a:ext cx="228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4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100</a:t>
            </a:r>
          </a:p>
        </p:txBody>
      </p:sp>
      <p:sp>
        <p:nvSpPr>
          <p:cNvPr id="1850102221" name="HTTP-запросов">
            <a:extLst xmlns:a="http://schemas.openxmlformats.org/drawingml/2006/main">
              <a:ext uri="{FF2B5EF4-FFF2-40B4-BE49-F238E27FC236}">
                <a16:creationId xmlns:a16="http://schemas.microsoft.com/office/drawing/2014/main" id="{33B558A9-E0E2-46F0-A104-7D5BBF9F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329" y="2857500"/>
            <a:ext cx="2266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HTTP-запросов</a:t>
            </a:r>
          </a:p>
        </p:txBody>
      </p:sp>
      <p:sp>
        <p:nvSpPr>
          <p:cNvPr id="1850102222" name="1000 тестовых профилей и 10 одновременных зап">
            <a:extLst xmlns:a="http://schemas.openxmlformats.org/drawingml/2006/main">
              <a:ext uri="{FF2B5EF4-FFF2-40B4-BE49-F238E27FC236}">
                <a16:creationId xmlns:a16="http://schemas.microsoft.com/office/drawing/2014/main" id="{A5E15626-F6B4-498F-B823-80CB6EEF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329" y="4000500"/>
            <a:ext cx="2266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1000 тестовых профилей и 10 одновременных запросов</a:t>
            </a:r>
          </a:p>
        </p:txBody>
      </p:sp>
      <p:sp>
        <p:nvSpPr>
          <p:cNvPr id="1850102223" name="749 мс">
            <a:extLst xmlns:a="http://schemas.openxmlformats.org/drawingml/2006/main">
              <a:ext uri="{FF2B5EF4-FFF2-40B4-BE49-F238E27FC236}">
                <a16:creationId xmlns:a16="http://schemas.microsoft.com/office/drawing/2014/main" id="{461C598F-0C54-4055-BA31-2721F16A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697" y="1857375"/>
            <a:ext cx="228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32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749 мс</a:t>
            </a:r>
          </a:p>
        </p:txBody>
      </p:sp>
      <p:sp>
        <p:nvSpPr>
          <p:cNvPr id="1850102224" name="локальный p95">
            <a:extLst xmlns:a="http://schemas.openxmlformats.org/drawingml/2006/main">
              <a:ext uri="{FF2B5EF4-FFF2-40B4-BE49-F238E27FC236}">
                <a16:creationId xmlns:a16="http://schemas.microsoft.com/office/drawing/2014/main" id="{3AD428F3-EC81-4026-8288-3E1FD712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697" y="2857500"/>
            <a:ext cx="2266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локальный p95</a:t>
            </a:r>
          </a:p>
        </p:txBody>
      </p:sp>
      <p:sp>
        <p:nvSpPr>
          <p:cNvPr id="1850102225" name="95% запросов завершились быстрее этого времен">
            <a:extLst xmlns:a="http://schemas.openxmlformats.org/drawingml/2006/main">
              <a:ext uri="{FF2B5EF4-FFF2-40B4-BE49-F238E27FC236}">
                <a16:creationId xmlns:a16="http://schemas.microsoft.com/office/drawing/2014/main" id="{97856FF5-3EC9-4295-AA7B-053B686C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697" y="4000500"/>
            <a:ext cx="2266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95% запросов завершились быстрее этого времени</a:t>
            </a:r>
          </a:p>
        </p:txBody>
      </p:sp>
      <p:sp>
        <p:nvSpPr>
          <p:cNvPr id="1850102226" name="Автоматические проверки на локальном стенде п">
            <a:extLst xmlns:a="http://schemas.openxmlformats.org/drawingml/2006/main">
              <a:ext uri="{FF2B5EF4-FFF2-40B4-BE49-F238E27FC236}">
                <a16:creationId xmlns:a16="http://schemas.microsoft.com/office/drawing/2014/main" id="{3C444BDC-C511-45EE-86F6-685AAB2B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3531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Автоматические проверки на локальном стенде платформы</a:t>
            </a:r>
          </a:p>
        </p:txBody>
      </p:sp>
    </p:spTree>
    <p:extLst>
      <p:ext uri="{BB962C8B-B14F-4D97-AF65-F5344CB8AC3E}">
        <p14:creationId xmlns:p14="http://schemas.microsoft.com/office/powerpoint/2010/main" val="1802541510"/>
      </p:ext>
    </p:extLst>
  </p:cSld>
</p:sld>
</file>

<file path=ppt/slides/slide14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bb510013c25545c5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06709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76C761F6-5E76-4E7D-A471-FF121482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43" y="324517"/>
            <a:ext cx="6191250" cy="620935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49394324" name="Номер слайда 8">
            <a:extLst xmlns:a="http://schemas.openxmlformats.org/drawingml/2006/main">
              <a:ext uri="{FF2B5EF4-FFF2-40B4-BE49-F238E27FC236}">
                <a16:creationId xmlns:a16="http://schemas.microsoft.com/office/drawing/2014/main" id="{56725577-5510-4AA3-8CC1-022FA686CE8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fld id="{327921A4-25C4-3DB4-06B1-32693CEE2241}" type="slidenum"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14</a:t>
            </a:fld>
            <a:endParaRPr/>
          </a:p>
        </p:txBody>
      </p:sp>
      <p:sp>
        <p:nvSpPr>
          <p:cNvPr id="765005591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228A91BA-8BD8-403A-ABEE-248235C654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2763648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947508476" name="ПРОВЕРКА РЕЛЕВАНТНОСТИ">
            <a:extLst xmlns:a="http://schemas.openxmlformats.org/drawingml/2006/main">
              <a:ext uri="{FF2B5EF4-FFF2-40B4-BE49-F238E27FC236}">
                <a16:creationId xmlns:a16="http://schemas.microsoft.com/office/drawing/2014/main" id="{0655145C-E397-4DC4-A90A-AA511BFD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7675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 РЕЛЕВАНТНОСТИ</a:t>
            </a:r>
          </a:p>
        </p:txBody>
      </p:sp>
      <p:graphicFrame>
        <p:nvGraphicFramePr>
          <p:cNvPr id="1947508477" name="Chart">
            <a:extLst xmlns:a="http://schemas.openxmlformats.org/drawingml/2006/main">
              <a:ext uri="{FF2B5EF4-FFF2-40B4-BE49-F238E27FC236}">
                <a16:creationId xmlns:a16="http://schemas.microsoft.com/office/drawing/2014/main" id="{DFD34682-E2BD-4C46-BAB0-57E008C6A313}"/>
              </a:ext>
            </a:extLst>
          </p:cNvPr>
          <p:cNvGraphicFramePr/>
          <p:nvPr/>
        </p:nvGraphicFramePr>
        <p:xfrm>
          <a:off xmlns:a="http://schemas.openxmlformats.org/drawingml/2006/main" x="428625" y="1762125"/>
          <a:ext xmlns:a="http://schemas.openxmlformats.org/drawingml/2006/main" cx="6191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3e03722ad54a35"/>
          </a:graphicData>
        </a:graphic>
      </p:graphicFrame>
      <p:sp>
        <p:nvSpPr>
          <p:cNvPr id="1947508478" name="1000 синтетических профилей&#10;12 описаний потре">
            <a:extLst xmlns:a="http://schemas.openxmlformats.org/drawingml/2006/main">
              <a:ext uri="{FF2B5EF4-FFF2-40B4-BE49-F238E27FC236}">
                <a16:creationId xmlns:a16="http://schemas.microsoft.com/office/drawing/2014/main" id="{6105BE6C-AE1C-427D-8EA6-EF5C4BB9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24000"/>
            <a:ext cx="4524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1000 синтетических профилей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12 описаний потребности</a:t>
            </a:r>
          </a:p>
        </p:txBody>
      </p:sp>
      <p:sp>
        <p:nvSpPr>
          <p:cNvPr id="1947508479" name="Синтетический стенд для сравнения алгоритмов.">
            <a:extLst xmlns:a="http://schemas.openxmlformats.org/drawingml/2006/main">
              <a:ext uri="{FF2B5EF4-FFF2-40B4-BE49-F238E27FC236}">
                <a16:creationId xmlns:a16="http://schemas.microsoft.com/office/drawing/2014/main" id="{71B815DB-1860-49FD-BB09-B6579577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527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Синтетический стенд для сравнения алгоритмов.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Разметка учитывает категорию и совпадение стека.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На стенде индекс платформы даёт более точную выдачу, чем поиск только по стеку.</a:t>
            </a:r>
          </a:p>
        </p:txBody>
      </p:sp>
    </p:spTree>
    <p:extLst>
      <p:ext uri="{BB962C8B-B14F-4D97-AF65-F5344CB8AC3E}">
        <p14:creationId xmlns:p14="http://schemas.microsoft.com/office/powerpoint/2010/main" val="1053374202"/>
      </p:ext>
    </p:extLst>
  </p:cSld>
</p:sld>
</file>

<file path=ppt/slides/slide15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8d115f8546ea41ca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2890615" name="Скругленный 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3E77DE2D-6C11-40E4-82D4-9BAE3545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477" y="1522006"/>
            <a:ext cx="3399397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3086381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D6AFBF32-90D4-4FB1-A202-0F656486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957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088598183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361C506F-F3EC-4E43-8D6D-0C65E256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99031151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59859C0-57F6-4091-AFAF-B02F783BB55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fld id="{EA83FA91-883A-0168-8075-96CEB9DCA3C2}" type="slidenum"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15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088598184" name="ДАННЫЕ И СОГЛАСИЕ КАНДИДАТА">
            <a:extLst xmlns:a="http://schemas.openxmlformats.org/drawingml/2006/main">
              <a:ext uri="{FF2B5EF4-FFF2-40B4-BE49-F238E27FC236}">
                <a16:creationId xmlns:a16="http://schemas.microsoft.com/office/drawing/2014/main" id="{74C64720-41EA-4153-B175-A723574D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ДАННЫЕ И СОГЛАСИЕ КАНДИДАТА</a:t>
            </a:r>
          </a:p>
        </p:txBody>
      </p:sp>
      <p:sp>
        <p:nvSpPr>
          <p:cNvPr id="2088598185" name="Публичный профиль">
            <a:extLst xmlns:a="http://schemas.openxmlformats.org/drawingml/2006/main">
              <a:ext uri="{FF2B5EF4-FFF2-40B4-BE49-F238E27FC236}">
                <a16:creationId xmlns:a16="http://schemas.microsoft.com/office/drawing/2014/main" id="{C07072F3-75D6-4D2D-9746-553FB2CC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3" y="1952625"/>
            <a:ext cx="2772251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Публичный профиль</a:t>
            </a:r>
          </a:p>
        </p:txBody>
      </p:sp>
      <p:sp>
        <p:nvSpPr>
          <p:cNvPr id="2088598186" name="Кандидат управляет видимостью образования, по">
            <a:extLst xmlns:a="http://schemas.openxmlformats.org/drawingml/2006/main">
              <a:ext uri="{FF2B5EF4-FFF2-40B4-BE49-F238E27FC236}">
                <a16:creationId xmlns:a16="http://schemas.microsoft.com/office/drawing/2014/main" id="{9C5D911D-FABA-460D-AEF9-3F552DF9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3" y="2952750"/>
            <a:ext cx="2772251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Кандидат управляет видимостью образования, портфолио, опроса и софт-скиллов.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Точная дата рождения скрыта.</a:t>
            </a:r>
          </a:p>
        </p:txBody>
      </p:sp>
      <p:sp>
        <p:nvSpPr>
          <p:cNvPr id="2088598187" name="Контакт и решение">
            <a:extLst xmlns:a="http://schemas.openxmlformats.org/drawingml/2006/main">
              <a:ext uri="{FF2B5EF4-FFF2-40B4-BE49-F238E27FC236}">
                <a16:creationId xmlns:a16="http://schemas.microsoft.com/office/drawing/2014/main" id="{462369FD-3267-4FB7-8517-E1CB4B30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30" y="1952625"/>
            <a:ext cx="2923127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Контакт и решение</a:t>
            </a:r>
          </a:p>
        </p:txBody>
      </p:sp>
      <p:sp>
        <p:nvSpPr>
          <p:cNvPr id="2088598188" name="Контакт открывается после принятия предложени">
            <a:extLst xmlns:a="http://schemas.openxmlformats.org/drawingml/2006/main">
              <a:ext uri="{FF2B5EF4-FFF2-40B4-BE49-F238E27FC236}">
                <a16:creationId xmlns:a16="http://schemas.microsoft.com/office/drawing/2014/main" id="{EEF00F91-1850-40E7-A187-6212F01A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630" y="2952750"/>
            <a:ext cx="2923127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Контакт открывается после принятия предложения.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Решение доступно кандидату и работодателю, который отправил задание.</a:t>
            </a:r>
          </a:p>
        </p:txBody>
      </p:sp>
      <p:sp>
        <p:nvSpPr>
          <p:cNvPr id="2088598189" name="Защита доступа">
            <a:extLst xmlns:a="http://schemas.openxmlformats.org/drawingml/2006/main">
              <a:ext uri="{FF2B5EF4-FFF2-40B4-BE49-F238E27FC236}">
                <a16:creationId xmlns:a16="http://schemas.microsoft.com/office/drawing/2014/main" id="{BF143892-2FAB-43AC-BCB9-95122FDD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123" y="1952625"/>
            <a:ext cx="2772251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Защита доступа</a:t>
            </a:r>
          </a:p>
        </p:txBody>
      </p:sp>
      <p:sp>
        <p:nvSpPr>
          <p:cNvPr id="2088598190" name="Сервер проверяет роль пользователя и владельц">
            <a:extLst xmlns:a="http://schemas.openxmlformats.org/drawingml/2006/main">
              <a:ext uri="{FF2B5EF4-FFF2-40B4-BE49-F238E27FC236}">
                <a16:creationId xmlns:a16="http://schemas.microsoft.com/office/drawing/2014/main" id="{3E8E3480-CBAE-4BAF-B018-CF91A5FC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123" y="2952750"/>
            <a:ext cx="2772251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Сервер проверяет роль пользователя и владельца записи.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Публичный профиль содержит только разрешённые кандидатом сведения.</a:t>
            </a:r>
          </a:p>
        </p:txBody>
      </p:sp>
    </p:spTree>
    <p:extLst>
      <p:ext uri="{BB962C8B-B14F-4D97-AF65-F5344CB8AC3E}">
        <p14:creationId xmlns:p14="http://schemas.microsoft.com/office/powerpoint/2010/main" val="869841148"/>
      </p:ext>
    </p:extLst>
  </p:cSld>
</p:sld>
</file>

<file path=ppt/slides/slide16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fcf8d98026bc4037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9622360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E1DBBE3E-5B6A-4280-89AF-433B2920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43" y="324517"/>
            <a:ext cx="6191250" cy="620935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949733761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B761284E-3816-40C4-BE05-79A5E7F9F1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fld id="{DC9C7607-4BA3-B4DC-A00F-2E67A9FCFF7E}" type="slidenum">
              <a:rPr sz="12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16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727501653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B045B27A-1983-4F4A-AB34-316B5139EA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447675"/>
            <a:ext cx="5810250" cy="409575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buNone/>
              <a:def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РАЗВИТИЕ И БИЗНЕС-МОДЕЛЬ</a:t>
            </a:r>
            <a:endParaRPr>
              <a:latin typeface="Montserrat"/>
              <a:ea typeface="Montserrat"/>
              <a:cs typeface="Montserrat"/>
            </a:endParaRPr>
          </a:p>
        </p:txBody>
      </p:sp>
      <p:sp>
        <p:nvSpPr>
          <p:cNvPr id="1580899649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8381A837-B529-4487-B0E7-7EFEBDB8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0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293163774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F2DFABEE-6E98-4285-B38D-662C1747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21593376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5F62DC6E-8B85-4566-97FF-0864F228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2817450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B1CADE6D-6373-4F64-9ABF-A8CC4599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49144457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06B2AC4D-C90D-4D32-BA87-C41E9A1B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96165570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AD8462E-FE76-4C6B-B16A-87E5ABA0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  <a:endParaRPr/>
          </a:p>
        </p:txBody>
      </p:sp>
      <p:sp>
        <p:nvSpPr>
          <p:cNvPr id="1961655708" name="Первый пилот">
            <a:extLst xmlns:a="http://schemas.openxmlformats.org/drawingml/2006/main">
              <a:ext uri="{FF2B5EF4-FFF2-40B4-BE49-F238E27FC236}">
                <a16:creationId xmlns:a16="http://schemas.microsoft.com/office/drawing/2014/main" id="{AED361BC-78CB-4F22-8FEC-BE2D8A79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Первый пилот</a:t>
            </a:r>
          </a:p>
        </p:txBody>
      </p:sp>
      <p:sp>
        <p:nvSpPr>
          <p:cNvPr id="1961655709" name="Планируем пилот с ИТ-командами и участниками ">
            <a:extLst xmlns:a="http://schemas.openxmlformats.org/drawingml/2006/main">
              <a:ext uri="{FF2B5EF4-FFF2-40B4-BE49-F238E27FC236}">
                <a16:creationId xmlns:a16="http://schemas.microsoft.com/office/drawing/2014/main" id="{513A4BE1-6FE9-4583-9AF4-0DB3A2C3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Планируем пилот с ИТ-командами и участниками соревнований. Оценим релевантность подборок и время до первого контакта.</a:t>
            </a:r>
          </a:p>
        </p:txBody>
      </p:sp>
      <p:sp>
        <p:nvSpPr>
          <p:cNvPr id="1961655710" name="План монетизации">
            <a:extLst xmlns:a="http://schemas.openxmlformats.org/drawingml/2006/main">
              <a:ext uri="{FF2B5EF4-FFF2-40B4-BE49-F238E27FC236}">
                <a16:creationId xmlns:a16="http://schemas.microsoft.com/office/drawing/2014/main" id="{8F9BDD24-337C-4E67-8578-EE69AF2E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План монетизации</a:t>
            </a:r>
          </a:p>
        </p:txBody>
      </p:sp>
      <p:sp>
        <p:nvSpPr>
          <p:cNvPr id="1961655711" name="Планируем бесплатный профиль для кандидата и ">
            <a:extLst xmlns:a="http://schemas.openxmlformats.org/drawingml/2006/main">
              <a:ext uri="{FF2B5EF4-FFF2-40B4-BE49-F238E27FC236}">
                <a16:creationId xmlns:a16="http://schemas.microsoft.com/office/drawing/2014/main" id="{2FA03DEB-E402-4F60-8CEE-A8122C70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Планируем бесплатный профиль для кандидата и платный доступ работодателя к расширенному подбору.</a:t>
            </a:r>
          </a:p>
        </p:txBody>
      </p:sp>
      <p:sp>
        <p:nvSpPr>
          <p:cNvPr id="1961655712" name="Следующие этапы">
            <a:extLst xmlns:a="http://schemas.openxmlformats.org/drawingml/2006/main">
              <a:ext uri="{FF2B5EF4-FFF2-40B4-BE49-F238E27FC236}">
                <a16:creationId xmlns:a16="http://schemas.microsoft.com/office/drawing/2014/main" id="{34A52AC1-2895-4E5C-B839-D6F1B457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Следующие этапы</a:t>
            </a:r>
          </a:p>
        </p:txBody>
      </p:sp>
      <p:sp>
        <p:nvSpPr>
          <p:cNvPr id="1961655713" name="Калибровка заданий, восстановление доступа и ">
            <a:extLst xmlns:a="http://schemas.openxmlformats.org/drawingml/2006/main">
              <a:ext uri="{FF2B5EF4-FFF2-40B4-BE49-F238E27FC236}">
                <a16:creationId xmlns:a16="http://schemas.microsoft.com/office/drawing/2014/main" id="{4BA5E17E-382C-4D0B-B2F9-B1FAE7E9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Калибровка заданий, восстановление доступа и SQL-предфильтрация. Интеграция реестра ФСП и ATS после согласования контрактов.</a:t>
            </a:r>
          </a:p>
        </p:txBody>
      </p:sp>
    </p:spTree>
    <p:extLst>
      <p:ext uri="{BB962C8B-B14F-4D97-AF65-F5344CB8AC3E}">
        <p14:creationId xmlns:p14="http://schemas.microsoft.com/office/powerpoint/2010/main" val="1332108195"/>
      </p:ext>
    </p:extLst>
  </p:cSld>
</p:sld>
</file>

<file path=ppt/slides/slide17.xml><?xml version="1.0" encoding="utf-8"?>
<p:sld xmlns:p="http://schemas.openxmlformats.org/presentationml/2006/main" showMasterSp="1" show="1">
  <p:cSld>
    <p:bg>
      <p:bgPr>
        <a:blipFill xmlns:a="http://schemas.openxmlformats.org/drawingml/2006/main" rotWithShape="1">
          <a:blip xmlns:r="http://schemas.openxmlformats.org/officeDocument/2006/relationships" r:embed="Ra07523175a084038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ФСП · Talent">
            <a:extLst xmlns:a="http://schemas.openxmlformats.org/drawingml/2006/main">
              <a:ext uri="{FF2B5EF4-FFF2-40B4-BE49-F238E27FC236}">
                <a16:creationId xmlns:a16="http://schemas.microsoft.com/office/drawing/2014/main" id="{761B5F2D-DC33-4BED-A428-A66A60A9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ФСП · Talent</a:t>
            </a:r>
          </a:p>
        </p:txBody>
      </p:sp>
      <p:sp>
        <p:nvSpPr>
          <p:cNvPr id="2" name="Демонстрация продукта">
            <a:extLst xmlns:a="http://schemas.openxmlformats.org/drawingml/2006/main">
              <a:ext uri="{FF2B5EF4-FFF2-40B4-BE49-F238E27FC236}">
                <a16:creationId xmlns:a16="http://schemas.microsoft.com/office/drawing/2014/main" id="{7E373761-5078-4C37-9684-DFF45321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9075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Демонстрация продукта</a:t>
            </a:r>
          </a:p>
        </p:txBody>
      </p:sp>
      <p:sp>
        <p:nvSpPr>
          <p:cNvPr id="3" name="Открыть работающий сайт">
            <a:extLst xmlns:a="http://schemas.openxmlformats.org/drawingml/2006/main">
              <a:ext uri="{FF2B5EF4-FFF2-40B4-BE49-F238E27FC236}">
                <a16:creationId xmlns:a16="http://schemas.microsoft.com/office/drawing/2014/main" id="{6D137E4F-864C-4029-A8BB-1BA0F1AA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9562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  <a:hlinkClick xmlns:r="http://schemas.openxmlformats.org/officeDocument/2006/relationships" r:id="R04a5759039874917"/>
              </a:rPr>
              <a:t>Открыть работающий сайт</a:t>
            </a:r>
          </a:p>
        </p:txBody>
      </p:sp>
      <p:sp>
        <p:nvSpPr>
          <p:cNvPr id="4" name="Для доступа к демонстрационной версии&#10;сайта т">
            <a:extLst xmlns:a="http://schemas.openxmlformats.org/drawingml/2006/main">
              <a:ext uri="{FF2B5EF4-FFF2-40B4-BE49-F238E27FC236}">
                <a16:creationId xmlns:a16="http://schemas.microsoft.com/office/drawing/2014/main" id="{600D669C-C621-4EBD-B9A1-E3F8DFCB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3855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Для доступа к демонстрационной версии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сайта требуется VPN.</a:t>
            </a:r>
          </a:p>
        </p:txBody>
      </p:sp>
      <p:sp>
        <p:nvSpPr>
          <p:cNvPr id="5" name="github.com/vanlavir/Talent-thsp">
            <a:extLst xmlns:a="http://schemas.openxmlformats.org/drawingml/2006/main">
              <a:ext uri="{FF2B5EF4-FFF2-40B4-BE49-F238E27FC236}">
                <a16:creationId xmlns:a16="http://schemas.microsoft.com/office/drawing/2014/main" id="{5202179A-5979-461C-9611-2B6C0E42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42912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  <a:hlinkClick xmlns:r="http://schemas.openxmlformats.org/officeDocument/2006/relationships" r:id="Rd3fb695ff55b495f"/>
              </a:rPr>
              <a:t>github.com/vanlavir/Talent-thsp</a:t>
            </a:r>
          </a:p>
        </p:txBody>
      </p:sp>
      <p:sp>
        <p:nvSpPr>
          <p:cNvPr id="6" name="Исходники, OpenAPI и инструкция запуска&#10;&#10;Конт">
            <a:extLst xmlns:a="http://schemas.openxmlformats.org/drawingml/2006/main">
              <a:ext uri="{FF2B5EF4-FFF2-40B4-BE49-F238E27FC236}">
                <a16:creationId xmlns:a16="http://schemas.microsoft.com/office/drawing/2014/main" id="{313DE33C-684D-4C47-8820-0640FDF8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38750"/>
            <a:ext cx="542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Исходники, OpenAPI и инструкция запуска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Контакт: talent-thsp@mail.ru</a:t>
            </a:r>
          </a:p>
        </p:txBody>
      </p:sp>
    </p:spTree>
    <p:extLst>
      <p:ext uri="{BB962C8B-B14F-4D97-AF65-F5344CB8AC3E}">
        <p14:creationId xmlns:p14="http://schemas.microsoft.com/office/powerpoint/2010/main" val="12856987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Пользовательские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2026-10-10T11:15:10.7370000Z</dcterms:created>
  <dcterms:modified xsi:type="dcterms:W3CDTF">2026-10-10T11:15:10.7370000Z</dcterms:modified>
</coreProperties>
</file>